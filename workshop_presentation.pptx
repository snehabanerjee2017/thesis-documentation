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1" r:id="rId14"/>
    <p:sldId id="272" r:id="rId15"/>
    <p:sldId id="269" r:id="rId16"/>
    <p:sldId id="270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68" r:id="rId29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825500" rtl="0" fontAlgn="auto" latinLnBrk="0" hangingPunct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1pPr>
    <a:lvl2pPr marL="0" marR="0" indent="457200" algn="l" defTabSz="825500" rtl="0" fontAlgn="auto" latinLnBrk="0" hangingPunct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2pPr>
    <a:lvl3pPr marL="0" marR="0" indent="914400" algn="l" defTabSz="825500" rtl="0" fontAlgn="auto" latinLnBrk="0" hangingPunct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3pPr>
    <a:lvl4pPr marL="0" marR="0" indent="1371600" algn="l" defTabSz="825500" rtl="0" fontAlgn="auto" latinLnBrk="0" hangingPunct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4pPr>
    <a:lvl5pPr marL="0" marR="0" indent="1828800" algn="l" defTabSz="825500" rtl="0" fontAlgn="auto" latinLnBrk="0" hangingPunct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5pPr>
    <a:lvl6pPr marL="0" marR="0" indent="2286000" algn="l" defTabSz="825500" rtl="0" fontAlgn="auto" latinLnBrk="0" hangingPunct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6pPr>
    <a:lvl7pPr marL="0" marR="0" indent="2743200" algn="l" defTabSz="825500" rtl="0" fontAlgn="auto" latinLnBrk="0" hangingPunct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7pPr>
    <a:lvl8pPr marL="0" marR="0" indent="3200400" algn="l" defTabSz="825500" rtl="0" fontAlgn="auto" latinLnBrk="0" hangingPunct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8pPr>
    <a:lvl9pPr marL="0" marR="0" indent="3657600" algn="l" defTabSz="825500" rtl="0" fontAlgn="auto" latinLnBrk="0" hangingPunct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334E6"/>
    <a:srgbClr val="E8710A"/>
    <a:srgbClr val="C45C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lumOff val="-13575"/>
            </a:schemeClr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hueOff val="114395"/>
              <a:lumOff val="-24975"/>
            </a:schemeClr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3">
              <a:hueOff val="362282"/>
              <a:satOff val="31803"/>
              <a:lumOff val="-18242"/>
            </a:schemeClr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929292"/>
              </a:solidFill>
              <a:prstDash val="solid"/>
              <a:miter lim="400000"/>
            </a:ln>
          </a:left>
          <a:right>
            <a:ln w="12700" cap="flat">
              <a:solidFill>
                <a:srgbClr val="929292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929292"/>
              </a:solidFill>
              <a:prstDash val="solid"/>
              <a:miter lim="400000"/>
            </a:ln>
          </a:insideH>
          <a:insideV>
            <a:ln w="127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solidFill>
            <a:srgbClr val="017101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rgbClr val="EDEADD"/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9BA00"/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ADBDA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chemeClr val="accent6">
              <a:hueOff val="-146070"/>
              <a:satOff val="-10048"/>
              <a:lumOff val="-30626"/>
            </a:schemeClr>
          </a:solidFill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B5B5C1"/>
          </a:solidFill>
        </a:fill>
      </a:tcStyle>
    </a:wholeTbl>
    <a:band2H>
      <a:tcTxStyle/>
      <a:tcStyle>
        <a:tcBdr/>
        <a:fill>
          <a:solidFill>
            <a:srgbClr val="9A9AA5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85F"/>
          </a:solidFill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10" autoAdjust="0"/>
    <p:restoredTop sz="94660"/>
  </p:normalViewPr>
  <p:slideViewPr>
    <p:cSldViewPr snapToGrid="0">
      <p:cViewPr varScale="1">
        <p:scale>
          <a:sx n="42" d="100"/>
          <a:sy n="42" d="100"/>
        </p:scale>
        <p:origin x="187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35" name="Shape 135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565614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1778000" y="2298700"/>
            <a:ext cx="20828000" cy="46482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778000" y="7073900"/>
            <a:ext cx="20828000" cy="15875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5400"/>
            </a:lvl1pPr>
            <a:lvl2pPr marL="0" indent="0" algn="ctr">
              <a:spcBef>
                <a:spcPts val="0"/>
              </a:spcBef>
              <a:buSzTx/>
              <a:buNone/>
              <a:defRPr sz="5400"/>
            </a:lvl2pPr>
            <a:lvl3pPr marL="0" indent="0" algn="ctr">
              <a:spcBef>
                <a:spcPts val="0"/>
              </a:spcBef>
              <a:buSzTx/>
              <a:buNone/>
              <a:defRPr sz="5400"/>
            </a:lvl3pPr>
            <a:lvl4pPr marL="0" indent="0" algn="ctr">
              <a:spcBef>
                <a:spcPts val="0"/>
              </a:spcBef>
              <a:buSzTx/>
              <a:buNone/>
              <a:defRPr sz="5400"/>
            </a:lvl4pPr>
            <a:lvl5pPr marL="0" indent="0" algn="ctr">
              <a:spcBef>
                <a:spcPts val="0"/>
              </a:spcBef>
              <a:buSzTx/>
              <a:buNone/>
              <a:defRPr sz="5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View of beach and sea from a grassy sand dune"/>
          <p:cNvSpPr>
            <a:spLocks noGrp="1"/>
          </p:cNvSpPr>
          <p:nvPr>
            <p:ph type="pic" idx="21"/>
          </p:nvPr>
        </p:nvSpPr>
        <p:spPr>
          <a:xfrm>
            <a:off x="3125968" y="-393700"/>
            <a:ext cx="18135601" cy="120904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xfrm>
            <a:off x="635000" y="9512300"/>
            <a:ext cx="23114000" cy="20066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635000" y="11442700"/>
            <a:ext cx="23114000" cy="15875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5400"/>
            </a:lvl1pPr>
            <a:lvl2pPr marL="0" indent="0" algn="ctr">
              <a:spcBef>
                <a:spcPts val="0"/>
              </a:spcBef>
              <a:buSzTx/>
              <a:buNone/>
              <a:defRPr sz="5400"/>
            </a:lvl2pPr>
            <a:lvl3pPr marL="0" indent="0" algn="ctr">
              <a:spcBef>
                <a:spcPts val="0"/>
              </a:spcBef>
              <a:buSzTx/>
              <a:buNone/>
              <a:defRPr sz="5400"/>
            </a:lvl3pPr>
            <a:lvl4pPr marL="0" indent="0" algn="ctr">
              <a:spcBef>
                <a:spcPts val="0"/>
              </a:spcBef>
              <a:buSzTx/>
              <a:buNone/>
              <a:defRPr sz="5400"/>
            </a:lvl4pPr>
            <a:lvl5pPr marL="0" indent="0" algn="ctr">
              <a:spcBef>
                <a:spcPts val="0"/>
              </a:spcBef>
              <a:buSzTx/>
              <a:buNone/>
              <a:defRPr sz="5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1778000" y="4533900"/>
            <a:ext cx="20828000" cy="4648200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Heron flying low over a beach with a short fence in the foreground"/>
          <p:cNvSpPr>
            <a:spLocks noGrp="1"/>
          </p:cNvSpPr>
          <p:nvPr>
            <p:ph type="pic" sz="half" idx="21"/>
          </p:nvPr>
        </p:nvSpPr>
        <p:spPr>
          <a:xfrm>
            <a:off x="12827000" y="952500"/>
            <a:ext cx="11468100" cy="114681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39" name="Title Text"/>
          <p:cNvSpPr txBox="1">
            <a:spLocks noGrp="1"/>
          </p:cNvSpPr>
          <p:nvPr>
            <p:ph type="title"/>
          </p:nvPr>
        </p:nvSpPr>
        <p:spPr>
          <a:xfrm>
            <a:off x="1651000" y="952500"/>
            <a:ext cx="10223500" cy="5549900"/>
          </a:xfrm>
          <a:prstGeom prst="rect">
            <a:avLst/>
          </a:prstGeom>
        </p:spPr>
        <p:txBody>
          <a:bodyPr anchor="b"/>
          <a:lstStyle>
            <a:lvl1pPr>
              <a:defRPr sz="8400"/>
            </a:lvl1pPr>
          </a:lstStyle>
          <a:p>
            <a:r>
              <a:t>Title Text</a:t>
            </a:r>
          </a:p>
        </p:txBody>
      </p:sp>
      <p:sp>
        <p:nvSpPr>
          <p:cNvPr id="4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651000" y="6527800"/>
            <a:ext cx="10223500" cy="57277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5400"/>
            </a:lvl1pPr>
            <a:lvl2pPr marL="0" indent="0" algn="ctr">
              <a:spcBef>
                <a:spcPts val="0"/>
              </a:spcBef>
              <a:buSzTx/>
              <a:buNone/>
              <a:defRPr sz="5400"/>
            </a:lvl2pPr>
            <a:lvl3pPr marL="0" indent="0" algn="ctr">
              <a:spcBef>
                <a:spcPts val="0"/>
              </a:spcBef>
              <a:buSzTx/>
              <a:buNone/>
              <a:defRPr sz="5400"/>
            </a:lvl3pPr>
            <a:lvl4pPr marL="0" indent="0" algn="ctr">
              <a:spcBef>
                <a:spcPts val="0"/>
              </a:spcBef>
              <a:buSzTx/>
              <a:buNone/>
              <a:defRPr sz="5400"/>
            </a:lvl4pPr>
            <a:lvl5pPr marL="0" indent="0" algn="ctr">
              <a:spcBef>
                <a:spcPts val="0"/>
              </a:spcBef>
              <a:buSzTx/>
              <a:buNone/>
              <a:defRPr sz="5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andy path between two hills leading to the ocean"/>
          <p:cNvSpPr>
            <a:spLocks noGrp="1"/>
          </p:cNvSpPr>
          <p:nvPr>
            <p:ph type="pic" sz="half" idx="21"/>
          </p:nvPr>
        </p:nvSpPr>
        <p:spPr>
          <a:xfrm>
            <a:off x="10960100" y="3149600"/>
            <a:ext cx="13944600" cy="92964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1689100" y="3149600"/>
            <a:ext cx="10223500" cy="9296400"/>
          </a:xfrm>
          <a:prstGeom prst="rect">
            <a:avLst/>
          </a:prstGeom>
        </p:spPr>
        <p:txBody>
          <a:bodyPr/>
          <a:lstStyle>
            <a:lvl1pPr marL="558800" indent="-558800">
              <a:spcBef>
                <a:spcPts val="4500"/>
              </a:spcBef>
              <a:defRPr sz="3800"/>
            </a:lvl1pPr>
            <a:lvl2pPr marL="1117600" indent="-558800">
              <a:spcBef>
                <a:spcPts val="4500"/>
              </a:spcBef>
              <a:defRPr sz="3800"/>
            </a:lvl2pPr>
            <a:lvl3pPr marL="1676400" indent="-558800">
              <a:spcBef>
                <a:spcPts val="4500"/>
              </a:spcBef>
              <a:defRPr sz="3800"/>
            </a:lvl3pPr>
            <a:lvl4pPr marL="2235200" indent="-558800">
              <a:spcBef>
                <a:spcPts val="4500"/>
              </a:spcBef>
              <a:defRPr sz="3800"/>
            </a:lvl4pPr>
            <a:lvl5pPr marL="2794000" indent="-558800">
              <a:spcBef>
                <a:spcPts val="4500"/>
              </a:spcBef>
              <a:defRPr sz="38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Live Video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76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1689100" y="3149600"/>
            <a:ext cx="10223500" cy="9296400"/>
          </a:xfrm>
          <a:prstGeom prst="rect">
            <a:avLst/>
          </a:prstGeom>
        </p:spPr>
        <p:txBody>
          <a:bodyPr/>
          <a:lstStyle>
            <a:lvl1pPr marL="558800" indent="-558800">
              <a:spcBef>
                <a:spcPts val="4500"/>
              </a:spcBef>
              <a:defRPr sz="3800"/>
            </a:lvl1pPr>
            <a:lvl2pPr marL="1117600" indent="-558800">
              <a:spcBef>
                <a:spcPts val="4500"/>
              </a:spcBef>
              <a:defRPr sz="3800"/>
            </a:lvl2pPr>
            <a:lvl3pPr marL="1676400" indent="-558800">
              <a:spcBef>
                <a:spcPts val="4500"/>
              </a:spcBef>
              <a:defRPr sz="3800"/>
            </a:lvl3pPr>
            <a:lvl4pPr marL="2235200" indent="-558800">
              <a:spcBef>
                <a:spcPts val="4500"/>
              </a:spcBef>
              <a:defRPr sz="3800"/>
            </a:lvl4pPr>
            <a:lvl5pPr marL="2794000" indent="-558800">
              <a:spcBef>
                <a:spcPts val="4500"/>
              </a:spcBef>
              <a:defRPr sz="38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Live Video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85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1689100" y="3149600"/>
            <a:ext cx="10223500" cy="9296400"/>
          </a:xfrm>
          <a:prstGeom prst="rect">
            <a:avLst/>
          </a:prstGeom>
        </p:spPr>
        <p:txBody>
          <a:bodyPr/>
          <a:lstStyle>
            <a:lvl1pPr marL="558800" indent="-558800">
              <a:spcBef>
                <a:spcPts val="4500"/>
              </a:spcBef>
              <a:defRPr sz="3800"/>
            </a:lvl1pPr>
            <a:lvl2pPr marL="1117600" indent="-558800">
              <a:spcBef>
                <a:spcPts val="4500"/>
              </a:spcBef>
              <a:defRPr sz="3800"/>
            </a:lvl2pPr>
            <a:lvl3pPr marL="1676400" indent="-558800">
              <a:spcBef>
                <a:spcPts val="4500"/>
              </a:spcBef>
              <a:defRPr sz="3800"/>
            </a:lvl3pPr>
            <a:lvl4pPr marL="2235200" indent="-558800">
              <a:spcBef>
                <a:spcPts val="4500"/>
              </a:spcBef>
              <a:defRPr sz="3800"/>
            </a:lvl4pPr>
            <a:lvl5pPr marL="2794000" indent="-558800">
              <a:spcBef>
                <a:spcPts val="4500"/>
              </a:spcBef>
              <a:defRPr sz="38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Body Level One…"/>
          <p:cNvSpPr txBox="1">
            <a:spLocks noGrp="1"/>
          </p:cNvSpPr>
          <p:nvPr>
            <p:ph type="body" idx="1"/>
          </p:nvPr>
        </p:nvSpPr>
        <p:spPr>
          <a:xfrm>
            <a:off x="1689100" y="1778000"/>
            <a:ext cx="21005800" cy="10160000"/>
          </a:xfrm>
          <a:prstGeom prst="rect">
            <a:avLst/>
          </a:prstGeom>
        </p:spPr>
        <p:txBody>
          <a:bodyPr/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andy path between two hills leading to the ocean"/>
          <p:cNvSpPr>
            <a:spLocks noGrp="1"/>
          </p:cNvSpPr>
          <p:nvPr>
            <p:ph type="pic" sz="quarter" idx="21"/>
          </p:nvPr>
        </p:nvSpPr>
        <p:spPr>
          <a:xfrm>
            <a:off x="15300325" y="7048500"/>
            <a:ext cx="8324850" cy="5549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02" name="Heron flying low over a beach with a short fence in the foreground"/>
          <p:cNvSpPr>
            <a:spLocks noGrp="1"/>
          </p:cNvSpPr>
          <p:nvPr>
            <p:ph type="pic" sz="quarter" idx="22"/>
          </p:nvPr>
        </p:nvSpPr>
        <p:spPr>
          <a:xfrm>
            <a:off x="15760700" y="863600"/>
            <a:ext cx="7404100" cy="74041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03" name="View of beach and sea from a grassy sand dune"/>
          <p:cNvSpPr>
            <a:spLocks noGrp="1"/>
          </p:cNvSpPr>
          <p:nvPr>
            <p:ph type="pic" idx="23"/>
          </p:nvPr>
        </p:nvSpPr>
        <p:spPr>
          <a:xfrm>
            <a:off x="-990600" y="1130300"/>
            <a:ext cx="17202150" cy="114681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0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–Johnny Appleseed"/>
          <p:cNvSpPr txBox="1">
            <a:spLocks noGrp="1"/>
          </p:cNvSpPr>
          <p:nvPr>
            <p:ph type="body" sz="quarter" idx="21"/>
          </p:nvPr>
        </p:nvSpPr>
        <p:spPr>
          <a:xfrm>
            <a:off x="2387600" y="8953500"/>
            <a:ext cx="19621500" cy="585521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3200" i="1"/>
            </a:lvl1pPr>
          </a:lstStyle>
          <a:p>
            <a:r>
              <a:t>–Johnny Appleseed</a:t>
            </a:r>
          </a:p>
        </p:txBody>
      </p:sp>
      <p:sp>
        <p:nvSpPr>
          <p:cNvPr id="112" name="“Type a quote here.”"/>
          <p:cNvSpPr txBox="1">
            <a:spLocks noGrp="1"/>
          </p:cNvSpPr>
          <p:nvPr>
            <p:ph type="body" sz="quarter" idx="22"/>
          </p:nvPr>
        </p:nvSpPr>
        <p:spPr>
          <a:xfrm>
            <a:off x="2387600" y="6076950"/>
            <a:ext cx="19621500" cy="8255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4800"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r>
              <a:t>“Type a quote here.” </a:t>
            </a:r>
          </a:p>
        </p:txBody>
      </p:sp>
      <p:sp>
        <p:nvSpPr>
          <p:cNvPr id="1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View of beach and sea from a grassy sand dune"/>
          <p:cNvSpPr>
            <a:spLocks noGrp="1"/>
          </p:cNvSpPr>
          <p:nvPr>
            <p:ph type="pic" idx="21"/>
          </p:nvPr>
        </p:nvSpPr>
        <p:spPr>
          <a:xfrm>
            <a:off x="-50800" y="-1270000"/>
            <a:ext cx="24485600" cy="16323734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1689100" y="355600"/>
            <a:ext cx="21005800" cy="2286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1689100" y="3149600"/>
            <a:ext cx="21005800" cy="9296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59031" y="13081000"/>
            <a:ext cx="453238" cy="461061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ctr">
              <a:spcBef>
                <a:spcPts val="0"/>
              </a:spcBef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ransition spd="med"/>
  <p:txStyles>
    <p:title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1pPr>
      <a:lvl2pPr marL="0" marR="0" indent="457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914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1371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1828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22860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2743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3200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3657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63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127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190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254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317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381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444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508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571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457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914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1371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1828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22860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2743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3200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3657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baeldung.com/cs/deep-belief-network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Introduction to the idea behind my Master’s thesis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Introduction to the idea behind my Master’s thesis</a:t>
            </a:r>
          </a:p>
        </p:txBody>
      </p:sp>
      <p:sp>
        <p:nvSpPr>
          <p:cNvPr id="138" name="Sneha Banerjee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Sneha Banerjee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Bin Pick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Bin Picking</a:t>
            </a:r>
          </a:p>
        </p:txBody>
      </p:sp>
      <p:pic>
        <p:nvPicPr>
          <p:cNvPr id="141" name="IMG_1029.jpeg" descr="IMG_1029.jpe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045988" y="3261973"/>
            <a:ext cx="8292024" cy="8698035"/>
          </a:xfrm>
          <a:prstGeom prst="rect">
            <a:avLst/>
          </a:prstGeom>
          <a:ln w="12700">
            <a:miter lim="400000"/>
          </a:ln>
        </p:spPr>
      </p:pic>
      <p:pic>
        <p:nvPicPr>
          <p:cNvPr id="142" name="IMG_1030.jpeg" descr="IMG_1030.jpe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773777" y="3305387"/>
            <a:ext cx="9979792" cy="8872911"/>
          </a:xfrm>
          <a:prstGeom prst="rect">
            <a:avLst/>
          </a:prstGeom>
          <a:ln w="12700">
            <a:miter lim="400000"/>
          </a:ln>
        </p:spPr>
      </p:pic>
      <p:pic>
        <p:nvPicPr>
          <p:cNvPr id="143" name="IMG_1031.jpeg" descr="IMG_1031.jpe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271768" y="2970562"/>
            <a:ext cx="13840464" cy="9057754"/>
          </a:xfrm>
          <a:prstGeom prst="rect">
            <a:avLst/>
          </a:prstGeom>
          <a:ln w="12700">
            <a:miter lim="400000"/>
          </a:ln>
        </p:spPr>
      </p:pic>
      <p:pic>
        <p:nvPicPr>
          <p:cNvPr id="144" name="IMG_1032.jpeg" descr="IMG_1032.jpe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038463" y="5746750"/>
            <a:ext cx="14196391" cy="3887901"/>
          </a:xfrm>
          <a:prstGeom prst="rect">
            <a:avLst/>
          </a:prstGeom>
          <a:ln w="12700">
            <a:miter lim="400000"/>
          </a:ln>
        </p:spPr>
      </p:pic>
      <p:sp>
        <p:nvSpPr>
          <p:cNvPr id="145" name="Slide Number"/>
          <p:cNvSpPr txBox="1">
            <a:spLocks noGrp="1"/>
          </p:cNvSpPr>
          <p:nvPr>
            <p:ph type="sldNum" sz="quarter" idx="4294967295"/>
          </p:nvPr>
        </p:nvSpPr>
        <p:spPr>
          <a:xfrm>
            <a:off x="12043765" y="13081000"/>
            <a:ext cx="283770" cy="46106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-1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000 -0.000000 C 0.019153 -0.020682 0.038306 -0.041364 0.056749 -0.059524 C 0.075193 -0.077683 0.092927 -0.093321 0.110235 -0.107067 C 0.127544 -0.120813 0.144427 -0.132667 0.163792 -0.141747 C 0.183158 -0.150827 0.205006 -0.157132 0.226713 -0.164320 C 0.248420 -0.171509 0.269984 -0.179580 0.288853 -0.193073 C 0.307722 -0.206567 0.323896 -0.225483 0.340069 -0.244400" pathEditMode="relative">
                                      <p:cBhvr>
                                        <p:cTn id="10" dur="12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6" presetClass="emph" presetSubtype="0" accel="50000" decel="50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" dur="1000" fill="hold"/>
                                        <p:tgtEl>
                                          <p:spTgt spid="141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mph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0"/>
                                      </p:to>
                                    </p:set>
                                    <p:animEffect filter="image" prLst="opacity: 0.50; ">
                                      <p:cBhvr>
                                        <p:cTn id="17" dur="indefinite" fill="hold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-1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000 -0.000000 C 0.018302 0.012611 0.036603 0.025222 0.054976 0.035941 C 0.073348 0.046660 0.091792 0.055488 0.109526 0.065829 C 0.127260 0.076170 0.144285 0.088024 0.161522 0.101518 C 0.178760 0.115012 0.196210 0.130145 0.214086 0.143008 C 0.231962 0.155871 0.250264 0.166464 0.270197 0.176427 C 0.290130 0.186390 0.311695 0.195722 0.328578 0.204423 C 0.345461 0.213125 0.357662 0.221196 0.369863 0.229267" pathEditMode="relative">
                                      <p:cBhvr>
                                        <p:cTn id="24" dur="13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6" presetClass="emph" presetSubtype="0" accel="50000" decel="5000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7" dur="1000" fill="hold"/>
                                        <p:tgtEl>
                                          <p:spTgt spid="142"/>
                                        </p:tgtEl>
                                      </p:cBhvr>
                                      <p:by x="49000" y="49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mph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0"/>
                                      </p:to>
                                    </p:set>
                                    <p:animEffect filter="image" prLst="opacity: 0.50; ">
                                      <p:cBhvr>
                                        <p:cTn id="31" dur="indefinite" fill="hold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1" presetClass="entr" presetSubtype="0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-1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000 0.000000 C -0.018585 -0.016646 -0.037171 -0.033293 -0.055969 -0.048804 C -0.074767 -0.064316 -0.093778 -0.078692 -0.112931 -0.092186 C -0.132084 -0.105680 -0.151378 -0.118291 -0.170957 -0.131406 C -0.190535 -0.144521 -0.210398 -0.158141 -0.222741 -0.166843 C -0.235083 -0.175544 -0.239907 -0.179327 -0.244731 -0.183111" pathEditMode="relative">
                                      <p:cBhvr>
                                        <p:cTn id="38" dur="900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6" presetClass="emph" presetSubtype="0" accel="50000" decel="50000" fill="hold" grpId="1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1" dur="1000" fill="hold"/>
                                        <p:tgtEl>
                                          <p:spTgt spid="143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-1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44731 -0.183111 C -0.266296 -0.183111 -0.287860 -0.183111 -0.306658 -0.182985 C -0.325457 -0.182858 -0.341488 -0.182606 -0.357520 -0.182354" pathEditMode="relative">
                                      <p:cBhvr>
                                        <p:cTn id="44" dur="400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9" presetClass="emph" fill="hold" grpId="1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indefinite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0"/>
                                      </p:to>
                                    </p:set>
                                    <p:animEffect filter="image" prLst="opacity: 0.50; ">
                                      <p:cBhvr>
                                        <p:cTn id="48" dur="indefinite" fill="hold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00"/>
                            </p:stCondLst>
                            <p:childTnLst>
                              <p:par>
                                <p:cTn id="50" presetID="1" presetClass="entr" presetSubtype="0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1" grpId="1" animBg="1" advAuto="0"/>
      <p:bldP spid="141" grpId="3" animBg="1" advAuto="0"/>
      <p:bldP spid="141" grpId="4" animBg="1" advAuto="0"/>
      <p:bldP spid="142" grpId="5" animBg="1" advAuto="0"/>
      <p:bldP spid="142" grpId="7" animBg="1" advAuto="0"/>
      <p:bldP spid="142" grpId="8" animBg="1" advAuto="0"/>
      <p:bldP spid="143" grpId="9" animBg="1" advAuto="0"/>
      <p:bldP spid="143" grpId="11" animBg="1" advAuto="0"/>
      <p:bldP spid="143" grpId="13" animBg="1" advAuto="0"/>
      <p:bldP spid="144" grpId="14" animBg="1" advAuto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What is good data?"/>
          <p:cNvSpPr txBox="1">
            <a:spLocks noGrp="1"/>
          </p:cNvSpPr>
          <p:nvPr>
            <p:ph type="title"/>
          </p:nvPr>
        </p:nvSpPr>
        <p:spPr>
          <a:xfrm>
            <a:off x="1778000" y="-927267"/>
            <a:ext cx="20828000" cy="4648201"/>
          </a:xfrm>
          <a:prstGeom prst="rect">
            <a:avLst/>
          </a:prstGeom>
        </p:spPr>
        <p:txBody>
          <a:bodyPr/>
          <a:lstStyle/>
          <a:p>
            <a:r>
              <a:t>What is good data?</a:t>
            </a:r>
          </a:p>
        </p:txBody>
      </p:sp>
      <p:pic>
        <p:nvPicPr>
          <p:cNvPr id="148" name="IMG_1032.jpeg" descr="IMG_1032.jpe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0968" y="4235755"/>
            <a:ext cx="21942064" cy="600917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51" name="Group"/>
          <p:cNvGrpSpPr/>
          <p:nvPr/>
        </p:nvGrpSpPr>
        <p:grpSpPr>
          <a:xfrm>
            <a:off x="1652134" y="5224015"/>
            <a:ext cx="6844867" cy="4032672"/>
            <a:chOff x="0" y="0"/>
            <a:chExt cx="6844865" cy="4032671"/>
          </a:xfrm>
        </p:grpSpPr>
        <p:pic>
          <p:nvPicPr>
            <p:cNvPr id="149" name="IMG_1032.jpeg" descr="IMG_1032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59232" t="50415" r="29892" b="4537"/>
            <a:stretch>
              <a:fillRect/>
            </a:stretch>
          </p:blipFill>
          <p:spPr>
            <a:xfrm>
              <a:off x="0" y="82751"/>
              <a:ext cx="3408899" cy="386722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50" name="IMG_1032.jpeg" descr="IMG_1032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69444" t="7085" r="21276" b="47070"/>
            <a:stretch>
              <a:fillRect/>
            </a:stretch>
          </p:blipFill>
          <p:spPr>
            <a:xfrm>
              <a:off x="3864601" y="0"/>
              <a:ext cx="2980265" cy="403267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158" name="Group"/>
          <p:cNvGrpSpPr/>
          <p:nvPr/>
        </p:nvGrpSpPr>
        <p:grpSpPr>
          <a:xfrm>
            <a:off x="1745000" y="5299430"/>
            <a:ext cx="9404694" cy="3927351"/>
            <a:chOff x="0" y="0"/>
            <a:chExt cx="9404692" cy="3927349"/>
          </a:xfrm>
        </p:grpSpPr>
        <p:pic>
          <p:nvPicPr>
            <p:cNvPr id="152" name="IMG_1032.jpeg" descr="IMG_1032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11814" t="9029" r="77893" b="48156"/>
            <a:stretch>
              <a:fillRect/>
            </a:stretch>
          </p:blipFill>
          <p:spPr>
            <a:xfrm>
              <a:off x="0" y="2157133"/>
              <a:ext cx="1530741" cy="174394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53" name="IMG_1032.jpeg" descr="IMG_1032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21810" t="10318" r="68919" b="48561"/>
            <a:stretch>
              <a:fillRect/>
            </a:stretch>
          </p:blipFill>
          <p:spPr>
            <a:xfrm>
              <a:off x="2043258" y="2163895"/>
              <a:ext cx="1424199" cy="173014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54" name="IMG_1032.jpeg" descr="IMG_1032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42823" t="51475" r="49207" b="5827"/>
            <a:stretch>
              <a:fillRect/>
            </a:stretch>
          </p:blipFill>
          <p:spPr>
            <a:xfrm>
              <a:off x="3980575" y="2130836"/>
              <a:ext cx="1224252" cy="179651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55" name="IMG_1032.jpeg" descr="IMG_1032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69440" t="12627" r="20812" b="51785"/>
            <a:stretch>
              <a:fillRect/>
            </a:stretch>
          </p:blipFill>
          <p:spPr>
            <a:xfrm>
              <a:off x="5717282" y="2309281"/>
              <a:ext cx="1439602" cy="14396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56" name="IMG_1032.jpeg" descr="IMG_1032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59581" t="53903" r="29125" b="9226"/>
            <a:stretch>
              <a:fillRect/>
            </a:stretch>
          </p:blipFill>
          <p:spPr>
            <a:xfrm>
              <a:off x="7669627" y="2253306"/>
              <a:ext cx="1735066" cy="155132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57" name="IMG_1032.jpeg" descr="IMG_1032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11814" t="9029" r="77893" b="48156"/>
            <a:stretch>
              <a:fillRect/>
            </a:stretch>
          </p:blipFill>
          <p:spPr>
            <a:xfrm>
              <a:off x="3827300" y="0"/>
              <a:ext cx="1530741" cy="174394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59" name="IMG_1034.jpeg" descr="IMG_1034.jpe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908985" y="5401245"/>
            <a:ext cx="5102125" cy="3986460"/>
          </a:xfrm>
          <a:prstGeom prst="rect">
            <a:avLst/>
          </a:prstGeom>
          <a:ln w="12700">
            <a:miter lim="400000"/>
          </a:ln>
        </p:spPr>
      </p:pic>
      <p:sp>
        <p:nvSpPr>
          <p:cNvPr id="160" name="Slide Number"/>
          <p:cNvSpPr txBox="1">
            <a:spLocks noGrp="1"/>
          </p:cNvSpPr>
          <p:nvPr>
            <p:ph type="sldNum" sz="quarter" idx="4294967295"/>
          </p:nvPr>
        </p:nvSpPr>
        <p:spPr>
          <a:xfrm>
            <a:off x="12043765" y="13081000"/>
            <a:ext cx="283770" cy="46106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3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-1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000 0.000000 C 0.022869 0.000262 0.045737 0.000525 0.068458 -0.000262 C 0.091179 -0.001049 0.113753 -0.002885 0.133007 -0.005377 C 0.152261 -0.007869 0.168195 -0.011016 0.184129 -0.014164" pathEditMode="relative">
                                      <p:cBhvr>
                                        <p:cTn id="10" dur="6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6" presetClass="emph" presetSubtype="0" accel="50000" decel="50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" dur="1000" fill="hold"/>
                                        <p:tgtEl>
                                          <p:spTgt spid="148"/>
                                        </p:tgtEl>
                                      </p:cBhvr>
                                      <p:by x="49000" y="49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mph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0"/>
                                      </p:to>
                                    </p:set>
                                    <p:animEffect filter="image" prLst="opacity: 0.50; ">
                                      <p:cBhvr>
                                        <p:cTn id="17" dur="indefinite" fill="hold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-1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000 0.000000 C -0.000738 -0.040655 -0.001475 -0.081311 -0.002582 -0.121310 C -0.003688 -0.161310 -0.005164 -0.200654 -0.006639 -0.239998" pathEditMode="relative">
                                      <p:cBhvr>
                                        <p:cTn id="24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6" presetClass="emph" presetSubtype="0" accel="50000" decel="5000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7" dur="1000" fill="hold"/>
                                        <p:tgtEl>
                                          <p:spTgt spid="151"/>
                                        </p:tgtEl>
                                      </p:cBhvr>
                                      <p:by x="75000" y="7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mph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0"/>
                                      </p:to>
                                    </p:set>
                                    <p:animEffect filter="image" prLst="opacity: 0.50; ">
                                      <p:cBhvr>
                                        <p:cTn id="31" dur="indefinite" fill="hold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1" presetClass="entr" presetSubtype="0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-1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000 0.000000 C -0.000443 0.037770 -0.000885 0.075540 -0.001475 0.116327 C -0.002066 0.157113 -0.002803 0.200916 -0.003172 0.233309 C -0.003541 0.265702 -0.003541 0.286686 -0.003541 0.307669" pathEditMode="relative">
                                      <p:cBhvr>
                                        <p:cTn id="38" dur="6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6" presetClass="emph" presetSubtype="0" accel="50000" decel="50000" fill="hold" grpId="1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1" dur="1000" fill="hold"/>
                                        <p:tgtEl>
                                          <p:spTgt spid="158"/>
                                        </p:tgtEl>
                                      </p:cBhvr>
                                      <p:by x="74000" y="7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mph" fill="hold" grpId="1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indefinite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0"/>
                                      </p:to>
                                    </p:set>
                                    <p:animEffect filter="image" prLst="opacity: 0.50; ">
                                      <p:cBhvr>
                                        <p:cTn id="45" dur="indefinite" fill="hold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1" presetClass="entr" presetSubtype="0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8" grpId="1" animBg="1" advAuto="0"/>
      <p:bldP spid="148" grpId="3" animBg="1" advAuto="0"/>
      <p:bldP spid="148" grpId="4" animBg="1" advAuto="0"/>
      <p:bldP spid="151" grpId="5" animBg="1" advAuto="0"/>
      <p:bldP spid="151" grpId="7" animBg="1" advAuto="0"/>
      <p:bldP spid="151" grpId="8" animBg="1" advAuto="0"/>
      <p:bldP spid="158" grpId="9" animBg="1" advAuto="0"/>
      <p:bldP spid="158" grpId="11" animBg="1" advAuto="0"/>
      <p:bldP spid="158" grpId="12" animBg="1" advAuto="0"/>
      <p:bldP spid="159" grpId="13" animBg="1" advAuto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What is good data?"/>
          <p:cNvSpPr txBox="1">
            <a:spLocks noGrp="1"/>
          </p:cNvSpPr>
          <p:nvPr>
            <p:ph type="title"/>
          </p:nvPr>
        </p:nvSpPr>
        <p:spPr>
          <a:xfrm>
            <a:off x="1778000" y="-927267"/>
            <a:ext cx="20828000" cy="4648201"/>
          </a:xfrm>
          <a:prstGeom prst="rect">
            <a:avLst/>
          </a:prstGeom>
        </p:spPr>
        <p:txBody>
          <a:bodyPr/>
          <a:lstStyle/>
          <a:p>
            <a:r>
              <a:t>What is good data?</a:t>
            </a:r>
          </a:p>
        </p:txBody>
      </p:sp>
      <p:pic>
        <p:nvPicPr>
          <p:cNvPr id="163" name="IMG_1032.jpeg" descr="IMG_1032.jpe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4158" y="2595985"/>
            <a:ext cx="21942065" cy="600917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6" name="Group">
            <a:hlinkClick r:id="" action="ppaction://hlinkshowjump?jump=nextslide"/>
          </p:cNvPr>
          <p:cNvGrpSpPr/>
          <p:nvPr/>
        </p:nvGrpSpPr>
        <p:grpSpPr>
          <a:xfrm>
            <a:off x="10618977" y="8886001"/>
            <a:ext cx="6844866" cy="4032672"/>
            <a:chOff x="0" y="0"/>
            <a:chExt cx="6844865" cy="4032671"/>
          </a:xfrm>
        </p:grpSpPr>
        <p:pic>
          <p:nvPicPr>
            <p:cNvPr id="164" name="IMG_1032.jpeg" descr="IMG_1032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59232" t="50415" r="29892" b="4537"/>
            <a:stretch>
              <a:fillRect/>
            </a:stretch>
          </p:blipFill>
          <p:spPr>
            <a:xfrm>
              <a:off x="0" y="82751"/>
              <a:ext cx="3408899" cy="386722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65" name="IMG_1032.jpeg" descr="IMG_1032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69444" t="7085" r="21276" b="47070"/>
            <a:stretch>
              <a:fillRect/>
            </a:stretch>
          </p:blipFill>
          <p:spPr>
            <a:xfrm>
              <a:off x="3864601" y="0"/>
              <a:ext cx="2980265" cy="403267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173" name="Group"/>
          <p:cNvGrpSpPr/>
          <p:nvPr/>
        </p:nvGrpSpPr>
        <p:grpSpPr>
          <a:xfrm>
            <a:off x="873224" y="8701512"/>
            <a:ext cx="9404694" cy="3927351"/>
            <a:chOff x="0" y="0"/>
            <a:chExt cx="9404692" cy="3927349"/>
          </a:xfrm>
        </p:grpSpPr>
        <p:pic>
          <p:nvPicPr>
            <p:cNvPr id="167" name="IMG_1032.jpeg" descr="IMG_1032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11814" t="9029" r="77893" b="48156"/>
            <a:stretch>
              <a:fillRect/>
            </a:stretch>
          </p:blipFill>
          <p:spPr>
            <a:xfrm>
              <a:off x="0" y="2157133"/>
              <a:ext cx="1530741" cy="174394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68" name="IMG_1032.jpeg" descr="IMG_1032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21810" t="10318" r="68919" b="48561"/>
            <a:stretch>
              <a:fillRect/>
            </a:stretch>
          </p:blipFill>
          <p:spPr>
            <a:xfrm>
              <a:off x="2043258" y="2163895"/>
              <a:ext cx="1424199" cy="173014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69" name="IMG_1032.jpeg" descr="IMG_1032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42823" t="51475" r="49207" b="5827"/>
            <a:stretch>
              <a:fillRect/>
            </a:stretch>
          </p:blipFill>
          <p:spPr>
            <a:xfrm>
              <a:off x="3980575" y="2130836"/>
              <a:ext cx="1224252" cy="179651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70" name="IMG_1032.jpeg" descr="IMG_1032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69440" t="12627" r="20812" b="51785"/>
            <a:stretch>
              <a:fillRect/>
            </a:stretch>
          </p:blipFill>
          <p:spPr>
            <a:xfrm>
              <a:off x="5717282" y="2309281"/>
              <a:ext cx="1439602" cy="14396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71" name="IMG_1032.jpeg" descr="IMG_1032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59581" t="53903" r="29125" b="9226"/>
            <a:stretch>
              <a:fillRect/>
            </a:stretch>
          </p:blipFill>
          <p:spPr>
            <a:xfrm>
              <a:off x="7669627" y="2253306"/>
              <a:ext cx="1735066" cy="155132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72" name="IMG_1032.jpeg" descr="IMG_1032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11814" t="9029" r="77893" b="48156"/>
            <a:stretch>
              <a:fillRect/>
            </a:stretch>
          </p:blipFill>
          <p:spPr>
            <a:xfrm>
              <a:off x="3827300" y="0"/>
              <a:ext cx="1530741" cy="174394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74" name="Slide Number"/>
          <p:cNvSpPr txBox="1">
            <a:spLocks noGrp="1"/>
          </p:cNvSpPr>
          <p:nvPr>
            <p:ph type="sldNum" sz="quarter" idx="4294967295"/>
          </p:nvPr>
        </p:nvSpPr>
        <p:spPr>
          <a:xfrm>
            <a:off x="12043765" y="13081000"/>
            <a:ext cx="283770" cy="46106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4</a:t>
            </a:fld>
            <a:endParaRPr/>
          </a:p>
        </p:txBody>
      </p:sp>
      <p:pic>
        <p:nvPicPr>
          <p:cNvPr id="175" name="IMG_1034.jpeg" descr="IMG_1034.jpe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8106485" y="8909107"/>
            <a:ext cx="5102125" cy="398646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-1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000 0.000000 C 0.022869 0.000262 0.045737 0.000525 0.068458 -0.000262 C 0.091179 -0.001049 0.113753 -0.002885 0.133007 -0.005377 C 0.152261 -0.007869 0.168195 -0.011016 0.184129 -0.014164" pathEditMode="relative">
                                      <p:cBhvr>
                                        <p:cTn id="10" dur="6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6" presetClass="emph" presetSubtype="0" accel="50000" decel="50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" dur="1000" fill="hold"/>
                                        <p:tgtEl>
                                          <p:spTgt spid="163"/>
                                        </p:tgtEl>
                                      </p:cBhvr>
                                      <p:by x="49000" y="49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mph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0"/>
                                      </p:to>
                                    </p:set>
                                    <p:animEffect filter="image" prLst="opacity: 0.50; ">
                                      <p:cBhvr>
                                        <p:cTn id="17" dur="indefinite" fill="hold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-1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000 0.000000 C -0.000738 -0.040655 -0.001475 -0.081311 -0.002582 -0.121310 C -0.003688 -0.161310 -0.005164 -0.200654 -0.006639 -0.239998" pathEditMode="relative">
                                      <p:cBhvr>
                                        <p:cTn id="24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6" presetClass="emph" presetSubtype="0" accel="50000" decel="5000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7" dur="1000" fill="hold"/>
                                        <p:tgtEl>
                                          <p:spTgt spid="166"/>
                                        </p:tgtEl>
                                      </p:cBhvr>
                                      <p:by x="75000" y="7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mph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0"/>
                                      </p:to>
                                    </p:set>
                                    <p:animEffect filter="image" prLst="opacity: 0.50; ">
                                      <p:cBhvr>
                                        <p:cTn id="31" dur="indefinite" fill="hold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1" presetClass="entr" presetSubtype="0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-1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000 0.000000 C -0.000443 0.037770 -0.000885 0.075540 -0.001475 0.116327 C -0.002066 0.157113 -0.002803 0.200916 -0.003172 0.233309 C -0.003541 0.265702 -0.003541 0.286686 -0.003541 0.307669" pathEditMode="relative">
                                      <p:cBhvr>
                                        <p:cTn id="38" dur="6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6" presetClass="emph" presetSubtype="0" accel="50000" decel="50000" fill="hold" grpId="1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1" dur="1000" fill="hold"/>
                                        <p:tgtEl>
                                          <p:spTgt spid="173"/>
                                        </p:tgtEl>
                                      </p:cBhvr>
                                      <p:by x="74000" y="7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mph" fill="hold" grpId="1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indefinite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0"/>
                                      </p:to>
                                    </p:set>
                                    <p:animEffect filter="image" prLst="opacity: 0.50; ">
                                      <p:cBhvr>
                                        <p:cTn id="45" dur="indefinite" fill="hold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1" presetClass="entr" presetSubtype="0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" grpId="1" animBg="1" advAuto="0"/>
      <p:bldP spid="163" grpId="3" animBg="1" advAuto="0"/>
      <p:bldP spid="163" grpId="4" animBg="1" advAuto="0"/>
      <p:bldP spid="166" grpId="5" animBg="1" advAuto="0"/>
      <p:bldP spid="166" grpId="7" animBg="1" advAuto="0"/>
      <p:bldP spid="166" grpId="8" animBg="1" advAuto="0"/>
      <p:bldP spid="173" grpId="9" animBg="1" advAuto="0"/>
      <p:bldP spid="173" grpId="11" animBg="1" advAuto="0"/>
      <p:bldP spid="173" grpId="12" animBg="1" advAuto="0"/>
      <p:bldP spid="175" grpId="13" animBg="1" advAuto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Comparing CAD part models for geometric similarity : A concept using machine learning algorithm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87044">
              <a:defRPr sz="6607"/>
            </a:lvl1pPr>
          </a:lstStyle>
          <a:p>
            <a:r>
              <a:t>Comparing CAD part models for geometric similarity : A concept using machine learning algorithms</a:t>
            </a:r>
          </a:p>
        </p:txBody>
      </p:sp>
      <p:sp>
        <p:nvSpPr>
          <p:cNvPr id="178" name="S. Bickel et al."/>
          <p:cNvSpPr txBox="1"/>
          <p:nvPr/>
        </p:nvSpPr>
        <p:spPr>
          <a:xfrm>
            <a:off x="18375627" y="2676297"/>
            <a:ext cx="3962281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/>
            </a:lvl1pPr>
          </a:lstStyle>
          <a:p>
            <a:r>
              <a:t>S. Bickel et al.</a:t>
            </a:r>
          </a:p>
        </p:txBody>
      </p:sp>
      <p:pic>
        <p:nvPicPr>
          <p:cNvPr id="179" name="IMG_1035.jpeg" descr="IMG_1035.jpe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559436" y="3320479"/>
            <a:ext cx="17265128" cy="885304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82" name="Group"/>
          <p:cNvGrpSpPr/>
          <p:nvPr/>
        </p:nvGrpSpPr>
        <p:grpSpPr>
          <a:xfrm>
            <a:off x="2981438" y="3562242"/>
            <a:ext cx="5931606" cy="8391101"/>
            <a:chOff x="0" y="0"/>
            <a:chExt cx="5931605" cy="8391100"/>
          </a:xfrm>
        </p:grpSpPr>
        <p:pic>
          <p:nvPicPr>
            <p:cNvPr id="180" name="IMG_1036.jpeg" descr="IMG_1036.jpeg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2085059" y="0"/>
              <a:ext cx="1761488" cy="619316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1" name="User defined local geometric similarity"/>
            <p:cNvSpPr txBox="1"/>
            <p:nvPr/>
          </p:nvSpPr>
          <p:spPr>
            <a:xfrm>
              <a:off x="0" y="6374488"/>
              <a:ext cx="5931606" cy="201661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b="1">
                  <a:solidFill>
                    <a:srgbClr val="B51A00"/>
                  </a:solidFill>
                </a:defRPr>
              </a:lvl1pPr>
            </a:lstStyle>
            <a:p>
              <a:r>
                <a:t>User defined local geometric similarity</a:t>
              </a:r>
            </a:p>
          </p:txBody>
        </p:sp>
      </p:grpSp>
      <p:sp>
        <p:nvSpPr>
          <p:cNvPr id="183" name="Slide Number"/>
          <p:cNvSpPr txBox="1">
            <a:spLocks noGrp="1"/>
          </p:cNvSpPr>
          <p:nvPr>
            <p:ph type="sldNum" sz="quarter" idx="4294967295"/>
          </p:nvPr>
        </p:nvSpPr>
        <p:spPr>
          <a:xfrm>
            <a:off x="12043765" y="13081000"/>
            <a:ext cx="283770" cy="46106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5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000" fill="hold"/>
                                        <p:tgtEl>
                                          <p:spTgt spid="179"/>
                                        </p:tgtEl>
                                      </p:cBhvr>
                                      <p:by x="75000" y="7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-1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000 0.000000 C 0.023164 0.000262 0.046327 0.000525 0.069417 0.000262 C 0.092507 0.000000 0.115524 -0.000787 0.138097 -0.001180 C 0.160671 -0.001574 0.182802 -0.001574 0.198810 -0.002098 C 0.214818 -0.002623 0.224703 -0.003672 0.234588 -0.004721" pathEditMode="relative">
                                      <p:cBhvr>
                                        <p:cTn id="9" dur="8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9" presetClass="emph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0"/>
                                      </p:to>
                                    </p:set>
                                    <p:animEffect filter="image" prLst="opacity: 0.50; ">
                                      <p:cBhvr>
                                        <p:cTn id="13" dur="indefinite" fill="hold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" grpId="1" animBg="1" advAuto="0"/>
      <p:bldP spid="179" grpId="3" animBg="1" advAuto="0"/>
      <p:bldP spid="182" grpId="4" animBg="1" advAuto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Deep Learning Representation using Autoencoder for 3D Shape Retrieva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20065">
              <a:defRPr sz="7056"/>
            </a:lvl1pPr>
          </a:lstStyle>
          <a:p>
            <a:r>
              <a:t>Deep Learning Representation using Autoencoder for 3D Shape Retrieval</a:t>
            </a:r>
          </a:p>
        </p:txBody>
      </p:sp>
      <p:sp>
        <p:nvSpPr>
          <p:cNvPr id="186" name="Zhuotun Zhu et al."/>
          <p:cNvSpPr txBox="1"/>
          <p:nvPr/>
        </p:nvSpPr>
        <p:spPr>
          <a:xfrm>
            <a:off x="17145244" y="2676297"/>
            <a:ext cx="5192663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/>
            </a:lvl1pPr>
          </a:lstStyle>
          <a:p>
            <a:r>
              <a:t>Zhuotun Zhu et al.</a:t>
            </a:r>
          </a:p>
        </p:txBody>
      </p:sp>
      <p:grpSp>
        <p:nvGrpSpPr>
          <p:cNvPr id="189" name="Group"/>
          <p:cNvGrpSpPr/>
          <p:nvPr/>
        </p:nvGrpSpPr>
        <p:grpSpPr>
          <a:xfrm>
            <a:off x="2656959" y="3507928"/>
            <a:ext cx="19070082" cy="4240061"/>
            <a:chOff x="0" y="0"/>
            <a:chExt cx="19070080" cy="4240060"/>
          </a:xfrm>
        </p:grpSpPr>
        <p:pic>
          <p:nvPicPr>
            <p:cNvPr id="187" name="IMG_1038.jpeg" descr="IMG_1038.jpeg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3984696" y="0"/>
              <a:ext cx="15085385" cy="424006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8" name="GLOBAL"/>
            <p:cNvSpPr txBox="1"/>
            <p:nvPr/>
          </p:nvSpPr>
          <p:spPr>
            <a:xfrm>
              <a:off x="0" y="1715814"/>
              <a:ext cx="2548421" cy="80843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t>GLOBAL</a:t>
              </a:r>
            </a:p>
          </p:txBody>
        </p:sp>
      </p:grpSp>
      <p:grpSp>
        <p:nvGrpSpPr>
          <p:cNvPr id="192" name="Group"/>
          <p:cNvGrpSpPr/>
          <p:nvPr/>
        </p:nvGrpSpPr>
        <p:grpSpPr>
          <a:xfrm>
            <a:off x="2439505" y="7771188"/>
            <a:ext cx="19504990" cy="5510070"/>
            <a:chOff x="0" y="0"/>
            <a:chExt cx="19504989" cy="5510068"/>
          </a:xfrm>
        </p:grpSpPr>
        <p:pic>
          <p:nvPicPr>
            <p:cNvPr id="190" name="IMG_1037.jpeg" descr="IMG_1037.jpeg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3226003" y="0"/>
              <a:ext cx="16278987" cy="5510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91" name="LOCAL"/>
            <p:cNvSpPr txBox="1"/>
            <p:nvPr/>
          </p:nvSpPr>
          <p:spPr>
            <a:xfrm>
              <a:off x="0" y="1747756"/>
              <a:ext cx="2300186" cy="80843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t>LOCAL</a:t>
              </a:r>
            </a:p>
          </p:txBody>
        </p:sp>
      </p:grpSp>
      <p:sp>
        <p:nvSpPr>
          <p:cNvPr id="193" name="Slide Number"/>
          <p:cNvSpPr txBox="1">
            <a:spLocks noGrp="1"/>
          </p:cNvSpPr>
          <p:nvPr>
            <p:ph type="sldNum" sz="quarter" idx="4294967295"/>
          </p:nvPr>
        </p:nvSpPr>
        <p:spPr>
          <a:xfrm>
            <a:off x="12043765" y="13081000"/>
            <a:ext cx="283770" cy="46106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6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mph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indefinite" fill="hold"/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0"/>
                                      </p:to>
                                    </p:set>
                                    <p:animEffect filter="image" prLst="opacity: 0.50; ">
                                      <p:cBhvr>
                                        <p:cTn id="11" dur="indefinite" fill="hold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9" grpId="1" animBg="1" advAuto="0"/>
      <p:bldP spid="189" grpId="2" animBg="1" advAuto="0"/>
      <p:bldP spid="192" grpId="3" animBg="1" advAuto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roposed Ide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Proposed Idea</a:t>
            </a:r>
          </a:p>
        </p:txBody>
      </p:sp>
      <p:sp>
        <p:nvSpPr>
          <p:cNvPr id="196" name="Autoencoder…"/>
          <p:cNvSpPr txBox="1"/>
          <p:nvPr/>
        </p:nvSpPr>
        <p:spPr>
          <a:xfrm>
            <a:off x="1284290" y="5191089"/>
            <a:ext cx="8361950" cy="3333822"/>
          </a:xfrm>
          <a:prstGeom prst="rect">
            <a:avLst/>
          </a:prstGeom>
          <a:solidFill>
            <a:srgbClr val="01C7FC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algn="ctr">
              <a:lnSpc>
                <a:spcPct val="10000"/>
              </a:lnSpc>
              <a:defRPr sz="9400"/>
            </a:pPr>
            <a:r>
              <a:t>Autoencoder</a:t>
            </a:r>
          </a:p>
          <a:p>
            <a:pPr algn="ctr">
              <a:lnSpc>
                <a:spcPct val="10000"/>
              </a:lnSpc>
              <a:defRPr sz="9400"/>
            </a:pPr>
            <a:r>
              <a:t>+</a:t>
            </a:r>
          </a:p>
          <a:p>
            <a:pPr algn="ctr">
              <a:lnSpc>
                <a:spcPct val="10000"/>
              </a:lnSpc>
              <a:defRPr sz="9400"/>
            </a:pPr>
            <a:r>
              <a:t>BoF-SIFT</a:t>
            </a:r>
          </a:p>
        </p:txBody>
      </p:sp>
      <p:sp>
        <p:nvSpPr>
          <p:cNvPr id="197" name="Add"/>
          <p:cNvSpPr/>
          <p:nvPr/>
        </p:nvSpPr>
        <p:spPr>
          <a:xfrm>
            <a:off x="10939626" y="5263807"/>
            <a:ext cx="3188386" cy="31883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99" y="0"/>
                </a:moveTo>
                <a:cubicBezTo>
                  <a:pt x="4834" y="0"/>
                  <a:pt x="0" y="4836"/>
                  <a:pt x="0" y="10801"/>
                </a:cubicBezTo>
                <a:cubicBezTo>
                  <a:pt x="0" y="16765"/>
                  <a:pt x="4835" y="21600"/>
                  <a:pt x="10799" y="21600"/>
                </a:cubicBezTo>
                <a:cubicBezTo>
                  <a:pt x="16764" y="21600"/>
                  <a:pt x="21600" y="16765"/>
                  <a:pt x="21600" y="10801"/>
                </a:cubicBezTo>
                <a:cubicBezTo>
                  <a:pt x="21600" y="4836"/>
                  <a:pt x="16764" y="0"/>
                  <a:pt x="10799" y="0"/>
                </a:cubicBezTo>
                <a:close/>
                <a:moveTo>
                  <a:pt x="9533" y="3765"/>
                </a:moveTo>
                <a:lnTo>
                  <a:pt x="12065" y="3765"/>
                </a:lnTo>
                <a:cubicBezTo>
                  <a:pt x="12100" y="3765"/>
                  <a:pt x="12129" y="3794"/>
                  <a:pt x="12129" y="3830"/>
                </a:cubicBezTo>
                <a:lnTo>
                  <a:pt x="12129" y="9407"/>
                </a:lnTo>
                <a:cubicBezTo>
                  <a:pt x="12129" y="9442"/>
                  <a:pt x="12157" y="9471"/>
                  <a:pt x="12192" y="9471"/>
                </a:cubicBezTo>
                <a:lnTo>
                  <a:pt x="17769" y="9471"/>
                </a:lnTo>
                <a:cubicBezTo>
                  <a:pt x="17804" y="9471"/>
                  <a:pt x="17833" y="9500"/>
                  <a:pt x="17833" y="9535"/>
                </a:cubicBezTo>
                <a:lnTo>
                  <a:pt x="17835" y="12067"/>
                </a:lnTo>
                <a:cubicBezTo>
                  <a:pt x="17835" y="12102"/>
                  <a:pt x="17806" y="12129"/>
                  <a:pt x="17770" y="12129"/>
                </a:cubicBezTo>
                <a:lnTo>
                  <a:pt x="12193" y="12129"/>
                </a:lnTo>
                <a:cubicBezTo>
                  <a:pt x="12158" y="12129"/>
                  <a:pt x="12129" y="12158"/>
                  <a:pt x="12129" y="12193"/>
                </a:cubicBezTo>
                <a:lnTo>
                  <a:pt x="12129" y="17770"/>
                </a:lnTo>
                <a:cubicBezTo>
                  <a:pt x="12129" y="17806"/>
                  <a:pt x="12100" y="17835"/>
                  <a:pt x="12065" y="17835"/>
                </a:cubicBezTo>
                <a:lnTo>
                  <a:pt x="9533" y="17835"/>
                </a:lnTo>
                <a:cubicBezTo>
                  <a:pt x="9498" y="17835"/>
                  <a:pt x="9471" y="17806"/>
                  <a:pt x="9471" y="17770"/>
                </a:cubicBezTo>
                <a:lnTo>
                  <a:pt x="9471" y="12193"/>
                </a:lnTo>
                <a:cubicBezTo>
                  <a:pt x="9471" y="12158"/>
                  <a:pt x="9442" y="12131"/>
                  <a:pt x="9407" y="12131"/>
                </a:cubicBezTo>
                <a:lnTo>
                  <a:pt x="3828" y="12131"/>
                </a:lnTo>
                <a:cubicBezTo>
                  <a:pt x="3793" y="12131"/>
                  <a:pt x="3765" y="12102"/>
                  <a:pt x="3765" y="12067"/>
                </a:cubicBezTo>
                <a:lnTo>
                  <a:pt x="3765" y="9535"/>
                </a:lnTo>
                <a:cubicBezTo>
                  <a:pt x="3765" y="9500"/>
                  <a:pt x="3793" y="9471"/>
                  <a:pt x="3828" y="9471"/>
                </a:cubicBezTo>
                <a:lnTo>
                  <a:pt x="9407" y="9471"/>
                </a:lnTo>
                <a:cubicBezTo>
                  <a:pt x="9442" y="9471"/>
                  <a:pt x="9469" y="9443"/>
                  <a:pt x="9469" y="9408"/>
                </a:cubicBezTo>
                <a:lnTo>
                  <a:pt x="9469" y="3830"/>
                </a:lnTo>
                <a:cubicBezTo>
                  <a:pt x="9469" y="3794"/>
                  <a:pt x="9498" y="3765"/>
                  <a:pt x="9533" y="3765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spcBef>
                <a:spcPts val="0"/>
              </a:spcBef>
              <a:defRPr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198" name="Ranking list"/>
          <p:cNvSpPr txBox="1"/>
          <p:nvPr/>
        </p:nvSpPr>
        <p:spPr>
          <a:xfrm>
            <a:off x="15421396" y="6112713"/>
            <a:ext cx="8361950" cy="1490574"/>
          </a:xfrm>
          <a:prstGeom prst="rect">
            <a:avLst/>
          </a:prstGeom>
          <a:solidFill>
            <a:srgbClr val="01C7FC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>
              <a:lnSpc>
                <a:spcPct val="10000"/>
              </a:lnSpc>
              <a:defRPr sz="9400"/>
            </a:lvl1pPr>
          </a:lstStyle>
          <a:p>
            <a:r>
              <a:t>Ranking list</a:t>
            </a:r>
          </a:p>
        </p:txBody>
      </p:sp>
      <p:sp>
        <p:nvSpPr>
          <p:cNvPr id="199" name="Slide Number"/>
          <p:cNvSpPr txBox="1">
            <a:spLocks noGrp="1"/>
          </p:cNvSpPr>
          <p:nvPr>
            <p:ph type="sldNum" sz="quarter" idx="4294967295"/>
          </p:nvPr>
        </p:nvSpPr>
        <p:spPr>
          <a:xfrm>
            <a:off x="12043765" y="13081000"/>
            <a:ext cx="283770" cy="46106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7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roblems😞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Problems😞</a:t>
            </a:r>
          </a:p>
        </p:txBody>
      </p:sp>
      <p:pic>
        <p:nvPicPr>
          <p:cNvPr id="202" name="IMG_1040.jpeg" descr="IMG_1040.jpe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212451" y="2827604"/>
            <a:ext cx="13959098" cy="9838792"/>
          </a:xfrm>
          <a:prstGeom prst="rect">
            <a:avLst/>
          </a:prstGeom>
          <a:ln w="12700">
            <a:miter lim="400000"/>
          </a:ln>
        </p:spPr>
      </p:pic>
      <p:sp>
        <p:nvSpPr>
          <p:cNvPr id="203" name="Spatial correlation is lost!!!"/>
          <p:cNvSpPr txBox="1"/>
          <p:nvPr/>
        </p:nvSpPr>
        <p:spPr>
          <a:xfrm>
            <a:off x="4636344" y="6958330"/>
            <a:ext cx="15111313" cy="157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0000">
                <a:solidFill>
                  <a:srgbClr val="E22400"/>
                </a:solidFill>
              </a:defRPr>
            </a:lvl1pPr>
          </a:lstStyle>
          <a:p>
            <a:r>
              <a:t>Spatial correlation is lost!!!</a:t>
            </a:r>
          </a:p>
        </p:txBody>
      </p:sp>
      <p:sp>
        <p:nvSpPr>
          <p:cNvPr id="204" name="Slide Number"/>
          <p:cNvSpPr txBox="1">
            <a:spLocks noGrp="1"/>
          </p:cNvSpPr>
          <p:nvPr>
            <p:ph type="sldNum" sz="quarter" idx="4294967295"/>
          </p:nvPr>
        </p:nvSpPr>
        <p:spPr>
          <a:xfrm>
            <a:off x="12043765" y="13081000"/>
            <a:ext cx="283770" cy="46106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8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0"/>
                                      </p:to>
                                    </p:set>
                                    <p:animEffect filter="image" prLst="opacity: 0.20; ">
                                      <p:cBhvr>
                                        <p:cTn id="7" dur="indefinite" fill="hold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2" grpId="1" animBg="1" advAuto="0"/>
      <p:bldP spid="203" grpId="2" animBg="1" advAuto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Change in Plans !!!!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Change in Plans !!!!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Unsupervised Learning on 3D Point Clouds by Clustering and Contras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20065">
              <a:defRPr sz="7056"/>
            </a:lvl1pPr>
          </a:lstStyle>
          <a:p>
            <a:r>
              <a:t>Unsupervised Learning on 3D Point Clouds by Clustering and Contrasting</a:t>
            </a:r>
          </a:p>
        </p:txBody>
      </p:sp>
      <p:pic>
        <p:nvPicPr>
          <p:cNvPr id="209" name="IMG_1041.jpeg" descr="IMG_1041.jpe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646009" y="2950958"/>
            <a:ext cx="17091982" cy="10073681"/>
          </a:xfrm>
          <a:prstGeom prst="rect">
            <a:avLst/>
          </a:prstGeom>
          <a:ln w="12700">
            <a:miter lim="400000"/>
          </a:ln>
        </p:spPr>
      </p:pic>
      <p:sp>
        <p:nvSpPr>
          <p:cNvPr id="210" name="Guofeng Mei et al."/>
          <p:cNvSpPr txBox="1"/>
          <p:nvPr/>
        </p:nvSpPr>
        <p:spPr>
          <a:xfrm>
            <a:off x="17145244" y="2676297"/>
            <a:ext cx="5192663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i="1"/>
            </a:lvl1pPr>
          </a:lstStyle>
          <a:p>
            <a:r>
              <a:t>Guofeng Mei et al.</a:t>
            </a:r>
          </a:p>
        </p:txBody>
      </p:sp>
      <p:sp>
        <p:nvSpPr>
          <p:cNvPr id="211" name="Spatial correlation preserved…"/>
          <p:cNvSpPr txBox="1"/>
          <p:nvPr/>
        </p:nvSpPr>
        <p:spPr>
          <a:xfrm>
            <a:off x="1239375" y="4546244"/>
            <a:ext cx="9783408" cy="5951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marL="635000" indent="-635000">
              <a:buSzPct val="125000"/>
              <a:buChar char="•"/>
            </a:pPr>
            <a:r>
              <a:t>Spatial correlation preserved</a:t>
            </a:r>
          </a:p>
          <a:p>
            <a:pPr marL="635000" indent="-635000">
              <a:buSzPct val="125000"/>
              <a:buChar char="•"/>
            </a:pPr>
            <a:r>
              <a:t>Considers global and local features</a:t>
            </a:r>
          </a:p>
          <a:p>
            <a:pPr marL="635000" indent="-635000">
              <a:buSzPct val="125000"/>
              <a:buChar char="•"/>
            </a:pPr>
            <a:r>
              <a:t>No pre-defined set of features</a:t>
            </a:r>
          </a:p>
          <a:p>
            <a:pPr marL="635000" indent="-635000">
              <a:buSzPct val="125000"/>
              <a:buChar char="•"/>
            </a:pPr>
            <a:r>
              <a:t>Automatic feature descriptors</a:t>
            </a:r>
          </a:p>
        </p:txBody>
      </p:sp>
      <p:sp>
        <p:nvSpPr>
          <p:cNvPr id="212" name="Slide Number"/>
          <p:cNvSpPr txBox="1">
            <a:spLocks noGrp="1"/>
          </p:cNvSpPr>
          <p:nvPr>
            <p:ph type="sldNum" sz="quarter" idx="4294967295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10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000" fill="hold"/>
                                        <p:tgtEl>
                                          <p:spTgt spid="209"/>
                                        </p:tgtEl>
                                      </p:cBhvr>
                                      <p:by x="75000" y="7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-1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000 -0.000000 C 0.021990 -0.000252 0.043981 -0.000504 0.066113 -0.001009 C 0.088245 -0.001513 0.110519 -0.002270 0.132367 -0.003657 C 0.154216 -0.005044 0.175639 -0.007062 0.189117 -0.007693 C 0.202595 -0.008323 0.208128 -0.007567 0.213661 -0.006810" pathEditMode="relative">
                                      <p:cBhvr>
                                        <p:cTn id="9" dur="700" fill="hold"/>
                                        <p:tgtEl>
                                          <p:spTgt spid="2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9" presetClass="emph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 fill="hold"/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0"/>
                                      </p:to>
                                    </p:set>
                                    <p:animEffect filter="image" prLst="opacity: 0.50; ">
                                      <p:cBhvr>
                                        <p:cTn id="13" dur="indefinite" fill="hold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9" grpId="1" animBg="1" advAuto="0"/>
      <p:bldP spid="209" grpId="3" animBg="1" advAuto="0"/>
      <p:bldP spid="211" grpId="4" animBg="1" advAuto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New ide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New idea</a:t>
            </a:r>
          </a:p>
        </p:txBody>
      </p:sp>
      <p:pic>
        <p:nvPicPr>
          <p:cNvPr id="215" name="IMG_1041.jpeg" descr="IMG_1041.jpe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884514" y="4376392"/>
            <a:ext cx="13313953" cy="7846984"/>
          </a:xfrm>
          <a:prstGeom prst="rect">
            <a:avLst/>
          </a:prstGeom>
          <a:ln w="12700">
            <a:miter lim="400000"/>
          </a:ln>
        </p:spPr>
      </p:pic>
      <p:sp>
        <p:nvSpPr>
          <p:cNvPr id="216" name="Clustering Algorithm -…"/>
          <p:cNvSpPr txBox="1"/>
          <p:nvPr/>
        </p:nvSpPr>
        <p:spPr>
          <a:xfrm>
            <a:off x="1293869" y="4547460"/>
            <a:ext cx="11423120" cy="7504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lnSpc>
                <a:spcPct val="10000"/>
              </a:lnSpc>
            </a:pPr>
            <a:r>
              <a:rPr dirty="0"/>
              <a:t>Clustering Algorithm - </a:t>
            </a:r>
          </a:p>
          <a:p>
            <a:pPr marL="1270000" lvl="1" indent="-635000">
              <a:lnSpc>
                <a:spcPct val="10000"/>
              </a:lnSpc>
              <a:buSzPct val="125000"/>
              <a:buChar char="•"/>
            </a:pPr>
            <a:r>
              <a:rPr dirty="0"/>
              <a:t>DBSCAN</a:t>
            </a:r>
          </a:p>
          <a:p>
            <a:pPr marL="1270000" lvl="1" indent="-635000">
              <a:lnSpc>
                <a:spcPct val="10000"/>
              </a:lnSpc>
              <a:buSzPct val="125000"/>
              <a:buChar char="•"/>
            </a:pPr>
            <a:r>
              <a:rPr dirty="0"/>
              <a:t>HDSCAN</a:t>
            </a:r>
          </a:p>
          <a:p>
            <a:pPr marL="1270000" lvl="1" indent="-635000">
              <a:lnSpc>
                <a:spcPct val="10000"/>
              </a:lnSpc>
              <a:buSzPct val="125000"/>
              <a:buChar char="•"/>
            </a:pPr>
            <a:r>
              <a:rPr dirty="0"/>
              <a:t>K-</a:t>
            </a:r>
            <a:r>
              <a:rPr dirty="0" err="1"/>
              <a:t>Medoids</a:t>
            </a:r>
            <a:endParaRPr dirty="0"/>
          </a:p>
          <a:p>
            <a:pPr marL="1270000" lvl="1" indent="-635000">
              <a:lnSpc>
                <a:spcPct val="10000"/>
              </a:lnSpc>
              <a:buSzPct val="125000"/>
              <a:buChar char="•"/>
            </a:pPr>
            <a:r>
              <a:rPr dirty="0" err="1"/>
              <a:t>KMeans</a:t>
            </a:r>
            <a:endParaRPr dirty="0"/>
          </a:p>
          <a:p>
            <a:pPr>
              <a:lnSpc>
                <a:spcPct val="10000"/>
              </a:lnSpc>
            </a:pPr>
            <a:endParaRPr dirty="0"/>
          </a:p>
          <a:p>
            <a:pPr>
              <a:lnSpc>
                <a:spcPct val="10000"/>
              </a:lnSpc>
            </a:pPr>
            <a:r>
              <a:rPr dirty="0"/>
              <a:t>Evaluation metrics - </a:t>
            </a:r>
          </a:p>
          <a:p>
            <a:pPr marL="1270000" lvl="1" indent="-635000">
              <a:lnSpc>
                <a:spcPct val="10000"/>
              </a:lnSpc>
              <a:buSzPct val="125000"/>
              <a:buChar char="•"/>
            </a:pPr>
            <a:r>
              <a:rPr dirty="0"/>
              <a:t>Silhouette Score</a:t>
            </a:r>
          </a:p>
          <a:p>
            <a:pPr marL="1270000" lvl="1" indent="-635000">
              <a:lnSpc>
                <a:spcPct val="10000"/>
              </a:lnSpc>
              <a:buSzPct val="125000"/>
              <a:buChar char="•"/>
            </a:pPr>
            <a:r>
              <a:rPr dirty="0"/>
              <a:t>Davis </a:t>
            </a:r>
            <a:r>
              <a:rPr dirty="0" err="1"/>
              <a:t>Bouldin</a:t>
            </a:r>
            <a:r>
              <a:rPr dirty="0"/>
              <a:t> Score</a:t>
            </a:r>
          </a:p>
        </p:txBody>
      </p:sp>
      <p:sp>
        <p:nvSpPr>
          <p:cNvPr id="217" name="Slide Number"/>
          <p:cNvSpPr txBox="1">
            <a:spLocks noGrp="1"/>
          </p:cNvSpPr>
          <p:nvPr>
            <p:ph type="sldNum" sz="quarter" idx="4294967295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11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Current state of the work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Current state of the work</a:t>
            </a:r>
          </a:p>
        </p:txBody>
      </p:sp>
      <p:pic>
        <p:nvPicPr>
          <p:cNvPr id="220" name="IMG_1042.png" descr="IMG_1042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706975" y="2556603"/>
            <a:ext cx="10970051" cy="10058117"/>
          </a:xfrm>
          <a:prstGeom prst="rect">
            <a:avLst/>
          </a:prstGeom>
          <a:ln w="12700">
            <a:miter lim="400000"/>
          </a:ln>
        </p:spPr>
      </p:pic>
      <p:sp>
        <p:nvSpPr>
          <p:cNvPr id="221" name="Circle"/>
          <p:cNvSpPr/>
          <p:nvPr/>
        </p:nvSpPr>
        <p:spPr>
          <a:xfrm>
            <a:off x="18599129" y="5269482"/>
            <a:ext cx="852544" cy="852544"/>
          </a:xfrm>
          <a:prstGeom prst="ellipse">
            <a:avLst/>
          </a:prstGeom>
          <a:solidFill>
            <a:srgbClr val="61E3FF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spcBef>
                <a:spcPts val="0"/>
              </a:spcBef>
              <a:defRPr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222" name="Training loss"/>
          <p:cNvSpPr txBox="1"/>
          <p:nvPr/>
        </p:nvSpPr>
        <p:spPr>
          <a:xfrm>
            <a:off x="19854064" y="5291538"/>
            <a:ext cx="4245209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r>
              <a:rPr dirty="0"/>
              <a:t>Training loss</a:t>
            </a:r>
          </a:p>
        </p:txBody>
      </p:sp>
      <p:sp>
        <p:nvSpPr>
          <p:cNvPr id="223" name="Circle"/>
          <p:cNvSpPr/>
          <p:nvPr/>
        </p:nvSpPr>
        <p:spPr>
          <a:xfrm>
            <a:off x="18599129" y="6754440"/>
            <a:ext cx="852544" cy="852543"/>
          </a:xfrm>
          <a:prstGeom prst="ellipse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spcBef>
                <a:spcPts val="0"/>
              </a:spcBef>
              <a:defRPr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224" name="Validation loss"/>
          <p:cNvSpPr txBox="1"/>
          <p:nvPr/>
        </p:nvSpPr>
        <p:spPr>
          <a:xfrm>
            <a:off x="19854064" y="6776495"/>
            <a:ext cx="4245209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r>
              <a:rPr dirty="0"/>
              <a:t>Validation loss</a:t>
            </a:r>
          </a:p>
        </p:txBody>
      </p:sp>
      <p:sp>
        <p:nvSpPr>
          <p:cNvPr id="225" name="Caution!…"/>
          <p:cNvSpPr txBox="1"/>
          <p:nvPr/>
        </p:nvSpPr>
        <p:spPr>
          <a:xfrm>
            <a:off x="748712" y="4428134"/>
            <a:ext cx="4820653" cy="48597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500">
                <a:solidFill>
                  <a:srgbClr val="E22400"/>
                </a:solidFill>
              </a:defRPr>
            </a:pPr>
            <a:r>
              <a:t>Caution!</a:t>
            </a:r>
          </a:p>
          <a:p>
            <a:r>
              <a:t>Result currently based on only 10k objects of the ABC dataset</a:t>
            </a:r>
          </a:p>
        </p:txBody>
      </p:sp>
      <p:sp>
        <p:nvSpPr>
          <p:cNvPr id="226" name="Slide Number"/>
          <p:cNvSpPr txBox="1">
            <a:spLocks noGrp="1"/>
          </p:cNvSpPr>
          <p:nvPr>
            <p:ph type="sldNum" sz="quarter" idx="4294967295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12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989149" y="9323042"/>
            <a:ext cx="8612051" cy="32588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1270000" lvl="1" indent="-635000">
              <a:lnSpc>
                <a:spcPct val="10000"/>
              </a:lnSpc>
              <a:buSzPct val="125000"/>
              <a:buChar char="•"/>
            </a:pPr>
            <a:r>
              <a:rPr lang="fr-FR" dirty="0" smtClean="0"/>
              <a:t>Silhouette </a:t>
            </a:r>
            <a:r>
              <a:rPr lang="fr-FR" dirty="0"/>
              <a:t>Score</a:t>
            </a:r>
          </a:p>
          <a:p>
            <a:pPr marL="1270000" lvl="1" indent="-635000">
              <a:lnSpc>
                <a:spcPct val="10000"/>
              </a:lnSpc>
              <a:buSzPct val="125000"/>
              <a:buChar char="•"/>
            </a:pPr>
            <a:r>
              <a:rPr lang="fr-FR" dirty="0"/>
              <a:t>Davis </a:t>
            </a:r>
            <a:r>
              <a:rPr lang="fr-FR" dirty="0" err="1"/>
              <a:t>Bouldin</a:t>
            </a:r>
            <a:r>
              <a:rPr lang="fr-FR" dirty="0"/>
              <a:t> Score</a:t>
            </a:r>
          </a:p>
          <a:p>
            <a:pPr marL="0" marR="0" indent="0" algn="l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4" name="New ide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de-DE" dirty="0" smtClean="0"/>
              <a:t>Quick Recap</a:t>
            </a:r>
            <a:endParaRPr dirty="0"/>
          </a:p>
        </p:txBody>
      </p:sp>
      <p:pic>
        <p:nvPicPr>
          <p:cNvPr id="215" name="IMG_1041.jpeg" descr="IMG_1041.jpe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884514" y="4376392"/>
            <a:ext cx="13313953" cy="7846984"/>
          </a:xfrm>
          <a:prstGeom prst="rect">
            <a:avLst/>
          </a:prstGeom>
          <a:ln w="12700">
            <a:miter lim="400000"/>
          </a:ln>
        </p:spPr>
      </p:pic>
      <p:sp>
        <p:nvSpPr>
          <p:cNvPr id="216" name="Clustering Algorithm -…"/>
          <p:cNvSpPr txBox="1"/>
          <p:nvPr/>
        </p:nvSpPr>
        <p:spPr>
          <a:xfrm>
            <a:off x="989149" y="3999855"/>
            <a:ext cx="11423120" cy="3498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lnSpc>
                <a:spcPct val="10000"/>
              </a:lnSpc>
            </a:pPr>
            <a:r>
              <a:rPr dirty="0"/>
              <a:t>Clustering Algorithm - </a:t>
            </a:r>
          </a:p>
          <a:p>
            <a:pPr marL="1270000" lvl="1" indent="-635000">
              <a:lnSpc>
                <a:spcPct val="10000"/>
              </a:lnSpc>
              <a:buSzPct val="125000"/>
              <a:buChar char="•"/>
            </a:pPr>
            <a:r>
              <a:rPr dirty="0"/>
              <a:t>DBSCAN</a:t>
            </a:r>
          </a:p>
          <a:p>
            <a:pPr marL="1270000" lvl="1" indent="-635000">
              <a:lnSpc>
                <a:spcPct val="10000"/>
              </a:lnSpc>
              <a:buSzPct val="125000"/>
              <a:buChar char="•"/>
            </a:pPr>
            <a:r>
              <a:rPr dirty="0"/>
              <a:t>HDSCAN</a:t>
            </a:r>
          </a:p>
          <a:p>
            <a:pPr marL="1270000" lvl="1" indent="-635000">
              <a:lnSpc>
                <a:spcPct val="10000"/>
              </a:lnSpc>
              <a:buSzPct val="125000"/>
              <a:buChar char="•"/>
            </a:pPr>
            <a:r>
              <a:rPr dirty="0"/>
              <a:t>K-</a:t>
            </a:r>
            <a:r>
              <a:rPr dirty="0" err="1"/>
              <a:t>Medoids</a:t>
            </a:r>
            <a:endParaRPr dirty="0"/>
          </a:p>
          <a:p>
            <a:pPr marL="1270000" lvl="1" indent="-635000">
              <a:lnSpc>
                <a:spcPct val="10000"/>
              </a:lnSpc>
              <a:buSzPct val="125000"/>
              <a:buChar char="•"/>
            </a:pPr>
            <a:r>
              <a:rPr dirty="0" err="1" smtClean="0"/>
              <a:t>KMeans</a:t>
            </a:r>
            <a:endParaRPr dirty="0"/>
          </a:p>
        </p:txBody>
      </p:sp>
      <p:sp>
        <p:nvSpPr>
          <p:cNvPr id="217" name="Slide Number"/>
          <p:cNvSpPr txBox="1">
            <a:spLocks noGrp="1"/>
          </p:cNvSpPr>
          <p:nvPr>
            <p:ph type="sldNum" sz="quarter" idx="4294967295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13</a:t>
            </a:fld>
            <a:endParaRPr/>
          </a:p>
        </p:txBody>
      </p:sp>
      <p:grpSp>
        <p:nvGrpSpPr>
          <p:cNvPr id="5" name="Group 4"/>
          <p:cNvGrpSpPr/>
          <p:nvPr/>
        </p:nvGrpSpPr>
        <p:grpSpPr>
          <a:xfrm>
            <a:off x="12716989" y="7498249"/>
            <a:ext cx="10591246" cy="817245"/>
            <a:chOff x="12716989" y="7498249"/>
            <a:chExt cx="10591246" cy="817245"/>
          </a:xfrm>
        </p:grpSpPr>
        <p:sp>
          <p:nvSpPr>
            <p:cNvPr id="4" name="Rounded Rectangle 3"/>
            <p:cNvSpPr/>
            <p:nvPr/>
          </p:nvSpPr>
          <p:spPr>
            <a:xfrm>
              <a:off x="12716989" y="7498249"/>
              <a:ext cx="5060023" cy="817245"/>
            </a:xfrm>
            <a:prstGeom prst="round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de-DE" b="0" i="0" u="none" strike="noStrike" cap="none" spc="0" normalizeH="0" baseline="0" dirty="0" smtClean="0">
                  <a:ln>
                    <a:noFill/>
                  </a:ln>
                  <a:solidFill>
                    <a:srgbClr val="FFFFFF"/>
                  </a:solidFill>
                  <a:effectLst/>
                  <a:uFillTx/>
                  <a:latin typeface="+mn-lt"/>
                  <a:ea typeface="+mn-ea"/>
                  <a:cs typeface="+mn-cs"/>
                  <a:sym typeface="Helvetica Neue Medium"/>
                </a:rPr>
                <a:t>PointNet</a:t>
              </a:r>
              <a:endParaRPr kumimoji="0" lang="de-DE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8248212" y="7498249"/>
              <a:ext cx="5060023" cy="817245"/>
            </a:xfrm>
            <a:prstGeom prst="round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de-DE" b="0" i="0" u="none" strike="noStrike" cap="none" spc="0" normalizeH="0" baseline="0" dirty="0" smtClean="0">
                  <a:ln>
                    <a:noFill/>
                  </a:ln>
                  <a:solidFill>
                    <a:srgbClr val="FFFFFF"/>
                  </a:solidFill>
                  <a:effectLst/>
                  <a:uFillTx/>
                  <a:latin typeface="+mn-lt"/>
                  <a:ea typeface="+mn-ea"/>
                  <a:cs typeface="+mn-cs"/>
                  <a:sym typeface="Helvetica Neue Medium"/>
                </a:rPr>
                <a:t>DGCNN</a:t>
              </a:r>
              <a:endParaRPr kumimoji="0" lang="de-DE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1689100" y="8811055"/>
            <a:ext cx="7392931" cy="233653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 anchorCtr="0">
            <a:spAutoFit/>
          </a:bodyPr>
          <a:lstStyle/>
          <a:p>
            <a:pPr marL="685800" marR="0" indent="-685800" algn="l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DBCV: Density based Clustering Evaluation</a:t>
            </a:r>
            <a:endParaRPr kumimoji="0" lang="de-DE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89149" y="8389966"/>
            <a:ext cx="8092882" cy="9330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>
              <a:lnSpc>
                <a:spcPct val="10000"/>
              </a:lnSpc>
            </a:pPr>
            <a:r>
              <a:rPr lang="fr-FR" dirty="0"/>
              <a:t>Evaluation </a:t>
            </a:r>
            <a:r>
              <a:rPr lang="fr-FR" dirty="0" err="1"/>
              <a:t>metrics</a:t>
            </a:r>
            <a:r>
              <a:rPr lang="fr-FR" dirty="0"/>
              <a:t> -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7777012" y="12375075"/>
            <a:ext cx="6400800" cy="116698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0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DGCNN:Dynamic Graph Convolutional Neural Network</a:t>
            </a:r>
            <a:endParaRPr kumimoji="0" lang="de-DE" sz="20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97036910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rctx="PPT">
                                        <p:cTn id="6" dur="indefinite"/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5"/>
                                      </p:to>
                                    </p:set>
                                    <p:animEffect filter="image" prLst="opacity: 0.25">
                                      <p:cBhvr rctx="IE">
                                        <p:cTn id="7" dur="indefinite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8" grpId="0"/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Current state of the work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de-DE" dirty="0" smtClean="0"/>
              <a:t>Previous</a:t>
            </a:r>
            <a:r>
              <a:rPr dirty="0" smtClean="0"/>
              <a:t> </a:t>
            </a:r>
            <a:r>
              <a:rPr dirty="0"/>
              <a:t>state of the work</a:t>
            </a:r>
          </a:p>
        </p:txBody>
      </p:sp>
      <p:pic>
        <p:nvPicPr>
          <p:cNvPr id="220" name="IMG_1042.png" descr="IMG_1042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706975" y="2556603"/>
            <a:ext cx="10970051" cy="10058117"/>
          </a:xfrm>
          <a:prstGeom prst="rect">
            <a:avLst/>
          </a:prstGeom>
          <a:ln w="12700">
            <a:miter lim="400000"/>
          </a:ln>
        </p:spPr>
      </p:pic>
      <p:sp>
        <p:nvSpPr>
          <p:cNvPr id="221" name="Circle"/>
          <p:cNvSpPr/>
          <p:nvPr/>
        </p:nvSpPr>
        <p:spPr>
          <a:xfrm>
            <a:off x="18599129" y="5269482"/>
            <a:ext cx="852544" cy="852544"/>
          </a:xfrm>
          <a:prstGeom prst="ellipse">
            <a:avLst/>
          </a:prstGeom>
          <a:solidFill>
            <a:srgbClr val="61E3FF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spcBef>
                <a:spcPts val="0"/>
              </a:spcBef>
              <a:defRPr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222" name="Training loss"/>
          <p:cNvSpPr txBox="1"/>
          <p:nvPr/>
        </p:nvSpPr>
        <p:spPr>
          <a:xfrm>
            <a:off x="19854064" y="5291538"/>
            <a:ext cx="4245209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r>
              <a:rPr dirty="0"/>
              <a:t>Training loss</a:t>
            </a:r>
          </a:p>
        </p:txBody>
      </p:sp>
      <p:sp>
        <p:nvSpPr>
          <p:cNvPr id="223" name="Circle"/>
          <p:cNvSpPr/>
          <p:nvPr/>
        </p:nvSpPr>
        <p:spPr>
          <a:xfrm>
            <a:off x="18599129" y="6754440"/>
            <a:ext cx="852544" cy="852543"/>
          </a:xfrm>
          <a:prstGeom prst="ellipse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spcBef>
                <a:spcPts val="0"/>
              </a:spcBef>
              <a:defRPr sz="3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224" name="Validation loss"/>
          <p:cNvSpPr txBox="1"/>
          <p:nvPr/>
        </p:nvSpPr>
        <p:spPr>
          <a:xfrm>
            <a:off x="19854064" y="6776495"/>
            <a:ext cx="4245209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r>
              <a:rPr dirty="0"/>
              <a:t>Validation loss</a:t>
            </a:r>
          </a:p>
        </p:txBody>
      </p:sp>
      <p:sp>
        <p:nvSpPr>
          <p:cNvPr id="225" name="Caution!…"/>
          <p:cNvSpPr txBox="1"/>
          <p:nvPr/>
        </p:nvSpPr>
        <p:spPr>
          <a:xfrm>
            <a:off x="748712" y="4428134"/>
            <a:ext cx="4820653" cy="48597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7500">
                <a:solidFill>
                  <a:srgbClr val="E22400"/>
                </a:solidFill>
              </a:defRPr>
            </a:pPr>
            <a:r>
              <a:t>Caution!</a:t>
            </a:r>
          </a:p>
          <a:p>
            <a:r>
              <a:t>Result currently based on only 10k objects of the ABC dataset</a:t>
            </a:r>
          </a:p>
        </p:txBody>
      </p:sp>
      <p:sp>
        <p:nvSpPr>
          <p:cNvPr id="226" name="Slide Number"/>
          <p:cNvSpPr txBox="1">
            <a:spLocks noGrp="1"/>
          </p:cNvSpPr>
          <p:nvPr>
            <p:ph type="sldNum" sz="quarter" idx="4294967295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16042755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Current </a:t>
            </a:r>
            <a:r>
              <a:rPr lang="en-US" dirty="0"/>
              <a:t>state of the work</a:t>
            </a:r>
            <a:endParaRPr lang="de-D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03548" y="3953232"/>
            <a:ext cx="9491352" cy="805142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9100" y="3961864"/>
            <a:ext cx="9383259" cy="8042793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13691286" y="12183762"/>
            <a:ext cx="518984" cy="444843"/>
          </a:xfrm>
          <a:prstGeom prst="ellipse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6" name="Oval 5"/>
          <p:cNvSpPr/>
          <p:nvPr/>
        </p:nvSpPr>
        <p:spPr>
          <a:xfrm>
            <a:off x="13691286" y="12875741"/>
            <a:ext cx="518984" cy="420129"/>
          </a:xfrm>
          <a:prstGeom prst="ellipse">
            <a:avLst/>
          </a:prstGeom>
          <a:solidFill>
            <a:srgbClr val="C45CCA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4418088" y="11750301"/>
            <a:ext cx="7527512" cy="17132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 anchorCtr="0">
            <a:spAutoFit/>
          </a:bodyPr>
          <a:lstStyle/>
          <a:p>
            <a:pPr>
              <a:spcBef>
                <a:spcPts val="1000"/>
              </a:spcBef>
            </a:pPr>
            <a:r>
              <a:rPr lang="de-DE" sz="4400" dirty="0"/>
              <a:t>Training loss</a:t>
            </a:r>
          </a:p>
          <a:p>
            <a:pPr>
              <a:spcBef>
                <a:spcPts val="1000"/>
              </a:spcBef>
            </a:pPr>
            <a:r>
              <a:rPr lang="de-DE" sz="4400" dirty="0"/>
              <a:t>Validation loss</a:t>
            </a:r>
          </a:p>
        </p:txBody>
      </p:sp>
      <p:sp>
        <p:nvSpPr>
          <p:cNvPr id="9" name="Oval 8"/>
          <p:cNvSpPr/>
          <p:nvPr/>
        </p:nvSpPr>
        <p:spPr>
          <a:xfrm>
            <a:off x="1953491" y="12183762"/>
            <a:ext cx="477982" cy="423184"/>
          </a:xfrm>
          <a:prstGeom prst="ellipse">
            <a:avLst/>
          </a:prstGeom>
          <a:solidFill>
            <a:srgbClr val="9334E6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10" name="Oval 9"/>
          <p:cNvSpPr/>
          <p:nvPr/>
        </p:nvSpPr>
        <p:spPr>
          <a:xfrm>
            <a:off x="1932709" y="12947135"/>
            <a:ext cx="519546" cy="377786"/>
          </a:xfrm>
          <a:prstGeom prst="ellipse">
            <a:avLst/>
          </a:prstGeom>
          <a:solidFill>
            <a:srgbClr val="E8710A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519550" y="11771960"/>
            <a:ext cx="7527512" cy="17132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 anchorCtr="0">
            <a:spAutoFit/>
          </a:bodyPr>
          <a:lstStyle/>
          <a:p>
            <a:pPr>
              <a:spcBef>
                <a:spcPts val="1000"/>
              </a:spcBef>
            </a:pPr>
            <a:r>
              <a:rPr lang="de-DE" sz="4400" dirty="0"/>
              <a:t>Training loss</a:t>
            </a:r>
          </a:p>
          <a:p>
            <a:pPr>
              <a:spcBef>
                <a:spcPts val="1000"/>
              </a:spcBef>
            </a:pPr>
            <a:r>
              <a:rPr lang="de-DE" sz="4400" dirty="0"/>
              <a:t>Validation 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85129" y="1838347"/>
            <a:ext cx="6314212" cy="16065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 anchorCtr="0">
            <a:spAutoFit/>
          </a:bodyPr>
          <a:lstStyle/>
          <a:p>
            <a:pPr marL="0" marR="0" indent="0" algn="l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4800" b="0" i="0" u="none" strike="noStrike" cap="none" spc="0" normalizeH="0" baseline="0" dirty="0" smtClean="0">
                <a:ln>
                  <a:noFill/>
                </a:ln>
                <a:solidFill>
                  <a:schemeClr val="accent3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Entire ABC</a:t>
            </a:r>
            <a:r>
              <a:rPr kumimoji="0" lang="de-DE" sz="4800" b="0" i="0" u="none" strike="noStrike" cap="none" spc="0" normalizeH="0" dirty="0" smtClean="0">
                <a:ln>
                  <a:noFill/>
                </a:ln>
                <a:solidFill>
                  <a:schemeClr val="accent3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 Dataset </a:t>
            </a:r>
            <a:r>
              <a:rPr kumimoji="0" lang="de-DE" sz="4800" b="0" i="0" u="none" strike="noStrike" cap="none" spc="0" normalizeH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😊</a:t>
            </a:r>
            <a:endParaRPr kumimoji="0" lang="de-DE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864525002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Quick stats</a:t>
            </a:r>
            <a:endParaRPr lang="de-D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70881" y="2752606"/>
            <a:ext cx="4539367" cy="3850702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96" y="2752605"/>
            <a:ext cx="4492487" cy="3850702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5783045"/>
              </p:ext>
            </p:extLst>
          </p:nvPr>
        </p:nvGraphicFramePr>
        <p:xfrm>
          <a:off x="4989442" y="3953229"/>
          <a:ext cx="14431617" cy="8795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810539">
                  <a:extLst>
                    <a:ext uri="{9D8B030D-6E8A-4147-A177-3AD203B41FA5}">
                      <a16:colId xmlns:a16="http://schemas.microsoft.com/office/drawing/2014/main" val="1417296681"/>
                    </a:ext>
                  </a:extLst>
                </a:gridCol>
                <a:gridCol w="4810539">
                  <a:extLst>
                    <a:ext uri="{9D8B030D-6E8A-4147-A177-3AD203B41FA5}">
                      <a16:colId xmlns:a16="http://schemas.microsoft.com/office/drawing/2014/main" val="1046877671"/>
                    </a:ext>
                  </a:extLst>
                </a:gridCol>
                <a:gridCol w="4810539">
                  <a:extLst>
                    <a:ext uri="{9D8B030D-6E8A-4147-A177-3AD203B41FA5}">
                      <a16:colId xmlns:a16="http://schemas.microsoft.com/office/drawing/2014/main" val="206134862"/>
                    </a:ext>
                  </a:extLst>
                </a:gridCol>
              </a:tblGrid>
              <a:tr h="1448224">
                <a:tc>
                  <a:txBody>
                    <a:bodyPr/>
                    <a:lstStyle/>
                    <a:p>
                      <a:r>
                        <a:rPr lang="de-DE" sz="4800" dirty="0" smtClean="0">
                          <a:latin typeface="+mn-lt"/>
                        </a:rPr>
                        <a:t>Factors</a:t>
                      </a:r>
                      <a:endParaRPr lang="de-DE" sz="4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4800" dirty="0" smtClean="0"/>
                        <a:t>PointNet</a:t>
                      </a:r>
                      <a:endParaRPr lang="de-DE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4800" dirty="0" smtClean="0"/>
                        <a:t>DGCNN</a:t>
                      </a:r>
                      <a:endParaRPr lang="de-DE" sz="4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8734286"/>
                  </a:ext>
                </a:extLst>
              </a:tr>
              <a:tr h="1448224">
                <a:tc>
                  <a:txBody>
                    <a:bodyPr/>
                    <a:lstStyle/>
                    <a:p>
                      <a:r>
                        <a:rPr lang="de-DE" sz="4800" dirty="0" smtClean="0"/>
                        <a:t>Epochs</a:t>
                      </a:r>
                      <a:endParaRPr lang="de-DE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4800" dirty="0" smtClean="0"/>
                        <a:t>33</a:t>
                      </a:r>
                      <a:endParaRPr lang="de-DE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4800" dirty="0" smtClean="0"/>
                        <a:t>37</a:t>
                      </a:r>
                      <a:endParaRPr lang="de-DE" sz="4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44174684"/>
                  </a:ext>
                </a:extLst>
              </a:tr>
              <a:tr h="1448224">
                <a:tc>
                  <a:txBody>
                    <a:bodyPr/>
                    <a:lstStyle/>
                    <a:p>
                      <a:r>
                        <a:rPr lang="de-DE" sz="4800" dirty="0" smtClean="0"/>
                        <a:t>Time taken</a:t>
                      </a:r>
                      <a:endParaRPr lang="de-DE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4800" dirty="0" smtClean="0"/>
                        <a:t>38 hrs</a:t>
                      </a:r>
                      <a:endParaRPr lang="de-DE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4800" dirty="0" smtClean="0"/>
                        <a:t>168 hrs</a:t>
                      </a:r>
                      <a:endParaRPr lang="de-DE" sz="4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786435"/>
                  </a:ext>
                </a:extLst>
              </a:tr>
              <a:tr h="1448224">
                <a:tc>
                  <a:txBody>
                    <a:bodyPr/>
                    <a:lstStyle/>
                    <a:p>
                      <a:r>
                        <a:rPr lang="de-DE" sz="4800" dirty="0" smtClean="0"/>
                        <a:t>GPU used</a:t>
                      </a:r>
                      <a:endParaRPr lang="de-DE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4800" dirty="0" smtClean="0"/>
                        <a:t>NVIDIA GeForce RTX 3090</a:t>
                      </a:r>
                      <a:endParaRPr lang="de-DE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4800" dirty="0" smtClean="0"/>
                        <a:t>Tesla V100-PCIE-32GB</a:t>
                      </a:r>
                      <a:endParaRPr lang="de-DE" sz="4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7330459"/>
                  </a:ext>
                </a:extLst>
              </a:tr>
              <a:tr h="1448224">
                <a:tc>
                  <a:txBody>
                    <a:bodyPr/>
                    <a:lstStyle/>
                    <a:p>
                      <a:r>
                        <a:rPr lang="de-DE" sz="4800" dirty="0" smtClean="0"/>
                        <a:t>Batch size</a:t>
                      </a:r>
                      <a:endParaRPr lang="de-DE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4800" dirty="0" smtClean="0"/>
                        <a:t>128</a:t>
                      </a:r>
                      <a:endParaRPr lang="de-DE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4800" dirty="0" smtClean="0"/>
                        <a:t>32</a:t>
                      </a:r>
                      <a:endParaRPr lang="de-DE" sz="4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462863"/>
                  </a:ext>
                </a:extLst>
              </a:tr>
              <a:tr h="1448224">
                <a:tc>
                  <a:txBody>
                    <a:bodyPr/>
                    <a:lstStyle/>
                    <a:p>
                      <a:r>
                        <a:rPr lang="de-DE" sz="4800" dirty="0" smtClean="0"/>
                        <a:t>Val</a:t>
                      </a:r>
                      <a:r>
                        <a:rPr lang="de-DE" sz="4800" baseline="0" dirty="0" smtClean="0"/>
                        <a:t> Loss</a:t>
                      </a:r>
                      <a:endParaRPr lang="de-DE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4800" dirty="0" smtClean="0"/>
                        <a:t>0.6660</a:t>
                      </a:r>
                      <a:endParaRPr lang="de-DE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4800" dirty="0" smtClean="0"/>
                        <a:t>0.6979</a:t>
                      </a:r>
                      <a:endParaRPr lang="de-DE" sz="4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91343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5019442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DBCV</a:t>
            </a:r>
            <a:endParaRPr lang="de-DE" dirty="0"/>
          </a:p>
        </p:txBody>
      </p:sp>
      <p:sp>
        <p:nvSpPr>
          <p:cNvPr id="4" name="TextBox 3"/>
          <p:cNvSpPr txBox="1"/>
          <p:nvPr/>
        </p:nvSpPr>
        <p:spPr>
          <a:xfrm>
            <a:off x="505759" y="4612486"/>
            <a:ext cx="2829112" cy="1631216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8255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PointNet/</a:t>
            </a:r>
          </a:p>
          <a:p>
            <a:pPr marL="0" marR="0" indent="0" algn="l" defTabSz="8255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DGCNN</a:t>
            </a:r>
            <a:endParaRPr kumimoji="0" lang="de-DE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36" name="Group 35"/>
          <p:cNvGrpSpPr/>
          <p:nvPr/>
        </p:nvGrpSpPr>
        <p:grpSpPr>
          <a:xfrm>
            <a:off x="3352052" y="3385278"/>
            <a:ext cx="6223188" cy="3931514"/>
            <a:chOff x="3352052" y="3385278"/>
            <a:chExt cx="6223188" cy="3931514"/>
          </a:xfrm>
        </p:grpSpPr>
        <p:sp>
          <p:nvSpPr>
            <p:cNvPr id="7" name="Oval 6"/>
            <p:cNvSpPr/>
            <p:nvPr/>
          </p:nvSpPr>
          <p:spPr>
            <a:xfrm>
              <a:off x="4277099" y="3605404"/>
              <a:ext cx="5298141" cy="3711388"/>
            </a:xfrm>
            <a:prstGeom prst="ellipse">
              <a:avLst/>
            </a:prstGeom>
            <a:noFill/>
            <a:ln w="12700" cap="flat">
              <a:solidFill>
                <a:schemeClr val="tx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787153" y="3385278"/>
              <a:ext cx="4249270" cy="3075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spAutoFit/>
            </a:bodyPr>
            <a:lstStyle/>
            <a:p>
              <a:pPr marL="0" marR="0" indent="0" algn="l" defTabSz="825500" rtl="0" fontAlgn="auto" latinLnBrk="0" hangingPunct="0">
                <a:lnSpc>
                  <a:spcPct val="100000"/>
                </a:lnSpc>
                <a:spcBef>
                  <a:spcPts val="59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de-DE" sz="4800" b="0" i="0" u="none" strike="noStrike" cap="none" spc="0" normalizeH="0" baseline="0" dirty="0" smtClean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Helvetica Neue"/>
                  <a:ea typeface="Helvetica Neue"/>
                  <a:cs typeface="Helvetica Neue"/>
                  <a:sym typeface="Helvetica Neue"/>
                </a:rPr>
                <a:t>1024 dim latent space</a:t>
              </a:r>
              <a:r>
                <a:rPr lang="de-DE" dirty="0"/>
                <a:t> </a:t>
              </a:r>
              <a:r>
                <a:rPr lang="de-DE" dirty="0" smtClean="0"/>
                <a:t>representation</a:t>
              </a:r>
              <a:endPara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3352052" y="5292366"/>
              <a:ext cx="900953" cy="363071"/>
            </a:xfrm>
            <a:prstGeom prst="rightArrow">
              <a:avLst/>
            </a:prstGeom>
            <a:noFill/>
            <a:ln w="12700" cap="flat">
              <a:solidFill>
                <a:schemeClr val="tx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</p:grpSp>
      <p:grpSp>
        <p:nvGrpSpPr>
          <p:cNvPr id="38" name="Group 37"/>
          <p:cNvGrpSpPr/>
          <p:nvPr/>
        </p:nvGrpSpPr>
        <p:grpSpPr>
          <a:xfrm>
            <a:off x="12990046" y="3752438"/>
            <a:ext cx="3498102" cy="3361765"/>
            <a:chOff x="12990046" y="3752438"/>
            <a:chExt cx="3498102" cy="3361765"/>
          </a:xfrm>
        </p:grpSpPr>
        <p:sp>
          <p:nvSpPr>
            <p:cNvPr id="15" name="Oval 14"/>
            <p:cNvSpPr/>
            <p:nvPr/>
          </p:nvSpPr>
          <p:spPr>
            <a:xfrm>
              <a:off x="12990046" y="3752438"/>
              <a:ext cx="3119718" cy="3361765"/>
            </a:xfrm>
            <a:prstGeom prst="ellipse">
              <a:avLst/>
            </a:prstGeom>
            <a:noFill/>
            <a:ln w="12700" cap="flat">
              <a:solidFill>
                <a:schemeClr val="tx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3368432" y="4182043"/>
              <a:ext cx="3119716" cy="159787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spAutoFit/>
            </a:bodyPr>
            <a:lstStyle/>
            <a:p>
              <a:pPr marL="0" marR="0" indent="0" algn="l" defTabSz="825500" rtl="0" fontAlgn="auto" latinLnBrk="0" hangingPunct="0">
                <a:lnSpc>
                  <a:spcPct val="100000"/>
                </a:lnSpc>
                <a:spcBef>
                  <a:spcPts val="59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de-DE" sz="4800" b="0" i="0" u="none" strike="noStrike" cap="none" spc="0" normalizeH="0" baseline="0" dirty="0" smtClean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Helvetica Neue"/>
                  <a:ea typeface="Helvetica Neue"/>
                  <a:cs typeface="Helvetica Neue"/>
                  <a:sym typeface="Helvetica Neue"/>
                </a:rPr>
                <a:t>Clusters</a:t>
              </a:r>
              <a:endParaRPr kumimoji="0" lang="de-DE" sz="4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16155710" y="3641398"/>
            <a:ext cx="1973727" cy="1858934"/>
            <a:chOff x="16155710" y="3641398"/>
            <a:chExt cx="1973727" cy="1858934"/>
          </a:xfrm>
        </p:grpSpPr>
        <p:sp>
          <p:nvSpPr>
            <p:cNvPr id="14" name="TextBox 13"/>
            <p:cNvSpPr txBox="1"/>
            <p:nvPr/>
          </p:nvSpPr>
          <p:spPr>
            <a:xfrm>
              <a:off x="16193059" y="3641398"/>
              <a:ext cx="1936378" cy="159787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spAutoFit/>
            </a:bodyPr>
            <a:lstStyle/>
            <a:p>
              <a:pPr marL="0" marR="0" indent="0" algn="l" defTabSz="825500" rtl="0" fontAlgn="auto" latinLnBrk="0" hangingPunct="0">
                <a:lnSpc>
                  <a:spcPct val="100000"/>
                </a:lnSpc>
                <a:spcBef>
                  <a:spcPts val="59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de-DE" sz="4800" b="0" i="0" u="none" strike="noStrike" cap="none" spc="0" normalizeH="0" baseline="0" dirty="0" smtClean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Helvetica Neue"/>
                  <a:ea typeface="Helvetica Neue"/>
                  <a:cs typeface="Helvetica Neue"/>
                  <a:sym typeface="Helvetica Neue"/>
                </a:rPr>
                <a:t>DBCV</a:t>
              </a:r>
              <a:endParaRPr kumimoji="0" lang="de-DE" sz="4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7" name="Right Arrow 16"/>
            <p:cNvSpPr/>
            <p:nvPr/>
          </p:nvSpPr>
          <p:spPr>
            <a:xfrm>
              <a:off x="16155710" y="5292365"/>
              <a:ext cx="1963273" cy="207967"/>
            </a:xfrm>
            <a:prstGeom prst="rightArrow">
              <a:avLst/>
            </a:prstGeom>
            <a:noFill/>
            <a:ln w="12700" cap="flat">
              <a:solidFill>
                <a:schemeClr val="tx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18202278" y="3799614"/>
            <a:ext cx="3092822" cy="233653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9600" b="0" i="0" u="none" strike="noStrike" cap="none" spc="0" normalizeH="0" baseline="0" dirty="0" smtClean="0">
                <a:ln>
                  <a:noFill/>
                </a:ln>
                <a:solidFill>
                  <a:srgbClr val="FF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❌</a:t>
            </a:r>
            <a:endParaRPr kumimoji="0" lang="de-DE" sz="9600" b="0" i="0" u="none" strike="noStrike" cap="none" spc="0" normalizeH="0" baseline="0" dirty="0">
              <a:ln>
                <a:noFill/>
              </a:ln>
              <a:solidFill>
                <a:srgbClr val="FF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22940" y="9523178"/>
            <a:ext cx="2829112" cy="1631216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8255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PointNet/</a:t>
            </a:r>
          </a:p>
          <a:p>
            <a:pPr marL="0" marR="0" indent="0" algn="l" defTabSz="8255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DGCNN</a:t>
            </a:r>
            <a:endParaRPr kumimoji="0" lang="de-DE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40" name="Group 39"/>
          <p:cNvGrpSpPr/>
          <p:nvPr/>
        </p:nvGrpSpPr>
        <p:grpSpPr>
          <a:xfrm>
            <a:off x="3361765" y="8294241"/>
            <a:ext cx="6397810" cy="3857010"/>
            <a:chOff x="3361765" y="8294241"/>
            <a:chExt cx="6397810" cy="3857010"/>
          </a:xfrm>
        </p:grpSpPr>
        <p:sp>
          <p:nvSpPr>
            <p:cNvPr id="21" name="Oval 20"/>
            <p:cNvSpPr/>
            <p:nvPr/>
          </p:nvSpPr>
          <p:spPr>
            <a:xfrm>
              <a:off x="4461434" y="8439863"/>
              <a:ext cx="5298141" cy="3711388"/>
            </a:xfrm>
            <a:prstGeom prst="ellipse">
              <a:avLst/>
            </a:prstGeom>
            <a:noFill/>
            <a:ln w="12700" cap="flat">
              <a:solidFill>
                <a:schemeClr val="tx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174310" y="8294241"/>
              <a:ext cx="4249270" cy="3075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spAutoFit/>
            </a:bodyPr>
            <a:lstStyle/>
            <a:p>
              <a:pPr marL="0" marR="0" indent="0" algn="l" defTabSz="825500" rtl="0" fontAlgn="auto" latinLnBrk="0" hangingPunct="0">
                <a:lnSpc>
                  <a:spcPct val="100000"/>
                </a:lnSpc>
                <a:spcBef>
                  <a:spcPts val="59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de-DE" sz="4800" b="0" i="0" u="none" strike="noStrike" cap="none" spc="0" normalizeH="0" baseline="0" dirty="0" smtClean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Helvetica Neue"/>
                  <a:ea typeface="Helvetica Neue"/>
                  <a:cs typeface="Helvetica Neue"/>
                  <a:sym typeface="Helvetica Neue"/>
                </a:rPr>
                <a:t>1024 dim latent space</a:t>
              </a:r>
              <a:r>
                <a:rPr lang="de-DE" dirty="0"/>
                <a:t> </a:t>
              </a:r>
              <a:r>
                <a:rPr lang="de-DE" dirty="0" smtClean="0"/>
                <a:t>representation</a:t>
              </a:r>
              <a:endPara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3" name="Right Arrow 22"/>
            <p:cNvSpPr/>
            <p:nvPr/>
          </p:nvSpPr>
          <p:spPr>
            <a:xfrm>
              <a:off x="3361765" y="10120745"/>
              <a:ext cx="1014505" cy="367961"/>
            </a:xfrm>
            <a:prstGeom prst="rightArrow">
              <a:avLst/>
            </a:prstGeom>
            <a:noFill/>
            <a:ln w="12700" cap="flat">
              <a:solidFill>
                <a:schemeClr val="tx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18250849" y="8401440"/>
            <a:ext cx="3526022" cy="3361765"/>
            <a:chOff x="18250849" y="8401440"/>
            <a:chExt cx="3526022" cy="3361765"/>
          </a:xfrm>
        </p:grpSpPr>
        <p:sp>
          <p:nvSpPr>
            <p:cNvPr id="26" name="Oval 25"/>
            <p:cNvSpPr/>
            <p:nvPr/>
          </p:nvSpPr>
          <p:spPr>
            <a:xfrm>
              <a:off x="18250849" y="8401440"/>
              <a:ext cx="3119718" cy="3361765"/>
            </a:xfrm>
            <a:prstGeom prst="ellipse">
              <a:avLst/>
            </a:prstGeom>
            <a:noFill/>
            <a:ln w="12700" cap="flat">
              <a:solidFill>
                <a:schemeClr val="tx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8657155" y="9032904"/>
              <a:ext cx="3119716" cy="159787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spAutoFit/>
            </a:bodyPr>
            <a:lstStyle/>
            <a:p>
              <a:pPr marL="0" marR="0" indent="0" algn="l" defTabSz="825500" rtl="0" fontAlgn="auto" latinLnBrk="0" hangingPunct="0">
                <a:lnSpc>
                  <a:spcPct val="100000"/>
                </a:lnSpc>
                <a:spcBef>
                  <a:spcPts val="59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de-DE" sz="4800" b="0" i="0" u="none" strike="noStrike" cap="none" spc="0" normalizeH="0" baseline="0" dirty="0" smtClean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Helvetica Neue"/>
                  <a:ea typeface="Helvetica Neue"/>
                  <a:cs typeface="Helvetica Neue"/>
                  <a:sym typeface="Helvetica Neue"/>
                </a:rPr>
                <a:t>Clusters</a:t>
              </a:r>
              <a:endParaRPr kumimoji="0" lang="de-DE" sz="4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45" name="Group 44"/>
          <p:cNvGrpSpPr/>
          <p:nvPr/>
        </p:nvGrpSpPr>
        <p:grpSpPr>
          <a:xfrm>
            <a:off x="21370567" y="8439863"/>
            <a:ext cx="2105011" cy="1784867"/>
            <a:chOff x="21342178" y="8439863"/>
            <a:chExt cx="2105011" cy="1784867"/>
          </a:xfrm>
        </p:grpSpPr>
        <p:sp>
          <p:nvSpPr>
            <p:cNvPr id="25" name="TextBox 24"/>
            <p:cNvSpPr txBox="1"/>
            <p:nvPr/>
          </p:nvSpPr>
          <p:spPr>
            <a:xfrm>
              <a:off x="21510811" y="8439863"/>
              <a:ext cx="1936378" cy="159787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spAutoFit/>
            </a:bodyPr>
            <a:lstStyle/>
            <a:p>
              <a:pPr marL="0" marR="0" indent="0" algn="l" defTabSz="825500" rtl="0" fontAlgn="auto" latinLnBrk="0" hangingPunct="0">
                <a:lnSpc>
                  <a:spcPct val="100000"/>
                </a:lnSpc>
                <a:spcBef>
                  <a:spcPts val="59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de-DE" sz="4800" b="0" i="0" u="none" strike="noStrike" cap="none" spc="0" normalizeH="0" baseline="0" dirty="0" smtClean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Helvetica Neue"/>
                  <a:ea typeface="Helvetica Neue"/>
                  <a:cs typeface="Helvetica Neue"/>
                  <a:sym typeface="Helvetica Neue"/>
                </a:rPr>
                <a:t>DBCV</a:t>
              </a:r>
              <a:endParaRPr kumimoji="0" lang="de-DE" sz="4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8" name="Right Arrow 27"/>
            <p:cNvSpPr/>
            <p:nvPr/>
          </p:nvSpPr>
          <p:spPr>
            <a:xfrm>
              <a:off x="21342178" y="10016763"/>
              <a:ext cx="1963273" cy="207967"/>
            </a:xfrm>
            <a:prstGeom prst="rightArrow">
              <a:avLst/>
            </a:prstGeom>
            <a:noFill/>
            <a:ln w="12700" cap="flat">
              <a:solidFill>
                <a:schemeClr val="tx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</p:grpSp>
      <p:grpSp>
        <p:nvGrpSpPr>
          <p:cNvPr id="41" name="Group 40"/>
          <p:cNvGrpSpPr/>
          <p:nvPr/>
        </p:nvGrpSpPr>
        <p:grpSpPr>
          <a:xfrm>
            <a:off x="9710443" y="7745786"/>
            <a:ext cx="1268887" cy="2534521"/>
            <a:chOff x="9710443" y="7745786"/>
            <a:chExt cx="1268887" cy="2534521"/>
          </a:xfrm>
        </p:grpSpPr>
        <p:sp>
          <p:nvSpPr>
            <p:cNvPr id="18" name="TextBox 17"/>
            <p:cNvSpPr txBox="1"/>
            <p:nvPr/>
          </p:nvSpPr>
          <p:spPr>
            <a:xfrm>
              <a:off x="9710443" y="7745786"/>
              <a:ext cx="1258797" cy="2336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spAutoFit/>
            </a:bodyPr>
            <a:lstStyle/>
            <a:p>
              <a:pPr marL="0" marR="0" indent="0" algn="l" defTabSz="825500" rtl="0" fontAlgn="auto" latinLnBrk="0" hangingPunct="0">
                <a:lnSpc>
                  <a:spcPct val="100000"/>
                </a:lnSpc>
                <a:spcBef>
                  <a:spcPts val="59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de-DE" sz="4800" b="0" i="0" u="none" strike="noStrike" cap="none" spc="0" normalizeH="0" baseline="0" dirty="0" smtClean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Helvetica Neue"/>
                  <a:ea typeface="Helvetica Neue"/>
                  <a:cs typeface="Helvetica Neue"/>
                  <a:sym typeface="Helvetica Neue"/>
                </a:rPr>
                <a:t>Dim</a:t>
              </a:r>
              <a:r>
                <a:rPr kumimoji="0" lang="de-DE" sz="4800" b="0" i="0" u="none" strike="noStrike" cap="none" spc="0" normalizeH="0" dirty="0" smtClean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Helvetica Neue"/>
                  <a:ea typeface="Helvetica Neue"/>
                  <a:cs typeface="Helvetica Neue"/>
                  <a:sym typeface="Helvetica Neue"/>
                </a:rPr>
                <a:t> Red</a:t>
              </a:r>
              <a:endParaRPr kumimoji="0" lang="de-DE" sz="4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9" name="Right Arrow 28"/>
            <p:cNvSpPr/>
            <p:nvPr/>
          </p:nvSpPr>
          <p:spPr>
            <a:xfrm>
              <a:off x="9753776" y="10113386"/>
              <a:ext cx="1225554" cy="166921"/>
            </a:xfrm>
            <a:prstGeom prst="rightArrow">
              <a:avLst/>
            </a:prstGeom>
            <a:noFill/>
            <a:ln w="12700" cap="flat">
              <a:solidFill>
                <a:schemeClr val="tx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10978029" y="8225041"/>
            <a:ext cx="4678829" cy="3855383"/>
            <a:chOff x="10978029" y="8225041"/>
            <a:chExt cx="4678829" cy="3855383"/>
          </a:xfrm>
        </p:grpSpPr>
        <p:sp>
          <p:nvSpPr>
            <p:cNvPr id="30" name="Oval 29"/>
            <p:cNvSpPr/>
            <p:nvPr/>
          </p:nvSpPr>
          <p:spPr>
            <a:xfrm>
              <a:off x="10978029" y="8369036"/>
              <a:ext cx="4678829" cy="3711388"/>
            </a:xfrm>
            <a:prstGeom prst="ellipse">
              <a:avLst/>
            </a:prstGeom>
            <a:noFill/>
            <a:ln w="12700" cap="flat">
              <a:solidFill>
                <a:schemeClr val="tx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442223" y="8225041"/>
              <a:ext cx="4175313" cy="3075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spAutoFit/>
            </a:bodyPr>
            <a:lstStyle/>
            <a:p>
              <a:pPr marL="0" marR="0" indent="0" algn="l" defTabSz="825500" rtl="0" fontAlgn="auto" latinLnBrk="0" hangingPunct="0">
                <a:lnSpc>
                  <a:spcPct val="100000"/>
                </a:lnSpc>
                <a:spcBef>
                  <a:spcPts val="59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de-DE" sz="4800" b="0" i="0" u="none" strike="noStrike" cap="none" spc="0" normalizeH="0" baseline="0" dirty="0" smtClean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Helvetica Neue"/>
                  <a:ea typeface="Helvetica Neue"/>
                  <a:cs typeface="Helvetica Neue"/>
                  <a:sym typeface="Helvetica Neue"/>
                </a:rPr>
                <a:t>Red. dim latent space</a:t>
              </a:r>
              <a:r>
                <a:rPr lang="de-DE" dirty="0"/>
                <a:t> </a:t>
              </a:r>
              <a:r>
                <a:rPr lang="de-DE" dirty="0" smtClean="0"/>
                <a:t>representation</a:t>
              </a:r>
              <a:endPara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15665647" y="7676594"/>
            <a:ext cx="2912401" cy="2548136"/>
            <a:chOff x="15665647" y="7676594"/>
            <a:chExt cx="2912401" cy="2548136"/>
          </a:xfrm>
        </p:grpSpPr>
        <p:sp>
          <p:nvSpPr>
            <p:cNvPr id="24" name="Right Arrow 23"/>
            <p:cNvSpPr/>
            <p:nvPr/>
          </p:nvSpPr>
          <p:spPr>
            <a:xfrm>
              <a:off x="15665647" y="10120745"/>
              <a:ext cx="2585202" cy="103985"/>
            </a:xfrm>
            <a:prstGeom prst="rightArrow">
              <a:avLst/>
            </a:prstGeom>
            <a:noFill/>
            <a:ln w="12700" cap="flat">
              <a:solidFill>
                <a:schemeClr val="tx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5696643" y="7676594"/>
              <a:ext cx="2881405" cy="2336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spAutoFit/>
            </a:bodyPr>
            <a:lstStyle/>
            <a:p>
              <a:pPr marL="0" marR="0" indent="0" algn="l" defTabSz="825500" rtl="0" fontAlgn="auto" latinLnBrk="0" hangingPunct="0">
                <a:lnSpc>
                  <a:spcPct val="100000"/>
                </a:lnSpc>
                <a:spcBef>
                  <a:spcPts val="59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de-DE" sz="4800" b="0" i="0" u="none" strike="noStrike" cap="none" spc="0" normalizeH="0" baseline="0" dirty="0" smtClean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Helvetica Neue"/>
                  <a:ea typeface="Helvetica Neue"/>
                  <a:cs typeface="Helvetica Neue"/>
                  <a:sym typeface="Helvetica Neue"/>
                </a:rPr>
                <a:t>Clustering Algo</a:t>
              </a:r>
              <a:endParaRPr kumimoji="0" lang="de-DE" sz="4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33" name="TextBox 32"/>
          <p:cNvSpPr txBox="1"/>
          <p:nvPr/>
        </p:nvSpPr>
        <p:spPr>
          <a:xfrm>
            <a:off x="23280049" y="8391371"/>
            <a:ext cx="1501587" cy="233653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9600" b="0" i="0" u="none" strike="noStrike" cap="none" spc="0" normalizeH="0" baseline="0" dirty="0" smtClean="0">
                <a:ln>
                  <a:noFill/>
                </a:ln>
                <a:solidFill>
                  <a:schemeClr val="accent3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✔</a:t>
            </a:r>
            <a:endParaRPr kumimoji="0" lang="de-DE" sz="9600" b="0" i="0" u="none" strike="noStrike" cap="none" spc="0" normalizeH="0" baseline="0" dirty="0">
              <a:ln>
                <a:noFill/>
              </a:ln>
              <a:solidFill>
                <a:schemeClr val="accent3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37" name="Group 36"/>
          <p:cNvGrpSpPr/>
          <p:nvPr/>
        </p:nvGrpSpPr>
        <p:grpSpPr>
          <a:xfrm>
            <a:off x="9604000" y="2862017"/>
            <a:ext cx="3356540" cy="2638315"/>
            <a:chOff x="9604000" y="2862017"/>
            <a:chExt cx="3356540" cy="2638315"/>
          </a:xfrm>
        </p:grpSpPr>
        <p:sp>
          <p:nvSpPr>
            <p:cNvPr id="13" name="Right Arrow 12"/>
            <p:cNvSpPr/>
            <p:nvPr/>
          </p:nvSpPr>
          <p:spPr>
            <a:xfrm>
              <a:off x="9612781" y="5219355"/>
              <a:ext cx="3334870" cy="280977"/>
            </a:xfrm>
            <a:prstGeom prst="rightArrow">
              <a:avLst/>
            </a:prstGeom>
            <a:noFill/>
            <a:ln w="12700" cap="flat">
              <a:solidFill>
                <a:schemeClr val="tx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604000" y="2862017"/>
              <a:ext cx="3356540" cy="2336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spAutoFit/>
            </a:bodyPr>
            <a:lstStyle/>
            <a:p>
              <a:pPr marL="0" marR="0" indent="0" algn="l" defTabSz="825500" rtl="0" fontAlgn="auto" latinLnBrk="0" hangingPunct="0">
                <a:lnSpc>
                  <a:spcPct val="100000"/>
                </a:lnSpc>
                <a:spcBef>
                  <a:spcPts val="59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de-DE" sz="4800" b="0" i="0" u="none" strike="noStrike" cap="none" spc="0" normalizeH="0" baseline="0" dirty="0" smtClean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Helvetica Neue"/>
                  <a:ea typeface="Helvetica Neue"/>
                  <a:cs typeface="Helvetica Neue"/>
                  <a:sym typeface="Helvetica Neue"/>
                </a:rPr>
                <a:t>Clustering Algo</a:t>
              </a:r>
              <a:endParaRPr kumimoji="0" lang="de-DE" sz="4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75149140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9" grpId="0"/>
      <p:bldP spid="20" grpId="0" animBg="1"/>
      <p:bldP spid="3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7660" y="329974"/>
            <a:ext cx="21005800" cy="2286000"/>
          </a:xfrm>
        </p:spPr>
        <p:txBody>
          <a:bodyPr/>
          <a:lstStyle/>
          <a:p>
            <a:r>
              <a:rPr lang="de-DE" dirty="0" smtClean="0"/>
              <a:t>Evaluation</a:t>
            </a:r>
            <a:endParaRPr lang="de-DE" dirty="0"/>
          </a:p>
        </p:txBody>
      </p:sp>
      <p:grpSp>
        <p:nvGrpSpPr>
          <p:cNvPr id="26" name="Group 25"/>
          <p:cNvGrpSpPr/>
          <p:nvPr/>
        </p:nvGrpSpPr>
        <p:grpSpPr>
          <a:xfrm>
            <a:off x="856211" y="2164506"/>
            <a:ext cx="10432472" cy="8991174"/>
            <a:chOff x="856211" y="2164506"/>
            <a:chExt cx="10432472" cy="8991174"/>
          </a:xfrm>
        </p:grpSpPr>
        <p:sp>
          <p:nvSpPr>
            <p:cNvPr id="3" name="Rectangle 2"/>
            <p:cNvSpPr/>
            <p:nvPr/>
          </p:nvSpPr>
          <p:spPr>
            <a:xfrm>
              <a:off x="856211" y="2884516"/>
              <a:ext cx="10025149" cy="8271164"/>
            </a:xfrm>
            <a:prstGeom prst="rect">
              <a:avLst/>
            </a:prstGeom>
            <a:noFill/>
            <a:ln w="12700" cap="flat">
              <a:solidFill>
                <a:schemeClr val="tx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4" name="Oval 3"/>
            <p:cNvSpPr/>
            <p:nvPr/>
          </p:nvSpPr>
          <p:spPr>
            <a:xfrm>
              <a:off x="1263534" y="4376650"/>
              <a:ext cx="3167149" cy="5648499"/>
            </a:xfrm>
            <a:prstGeom prst="ellipse">
              <a:avLst/>
            </a:prstGeom>
            <a:noFill/>
            <a:ln w="12700" cap="flat">
              <a:solidFill>
                <a:schemeClr val="tx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3926378" y="2164506"/>
              <a:ext cx="2585257" cy="159787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spAutoFit/>
            </a:bodyPr>
            <a:lstStyle/>
            <a:p>
              <a:pPr marL="0" marR="0" indent="0" algn="l" defTabSz="825500" rtl="0" fontAlgn="auto" latinLnBrk="0" hangingPunct="0">
                <a:lnSpc>
                  <a:spcPct val="100000"/>
                </a:lnSpc>
                <a:spcBef>
                  <a:spcPts val="59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de-DE" sz="4800" b="0" i="0" u="none" strike="noStrike" cap="none" spc="0" normalizeH="0" baseline="0" dirty="0" smtClean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Helvetica Neue"/>
                  <a:ea typeface="Helvetica Neue"/>
                  <a:cs typeface="Helvetica Neue"/>
                  <a:sym typeface="Helvetica Neue"/>
                </a:rPr>
                <a:t>Model X</a:t>
              </a:r>
              <a:endParaRPr kumimoji="0" lang="de-DE" sz="4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870363" y="2963443"/>
              <a:ext cx="2626822" cy="14132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spAutoFit/>
            </a:bodyPr>
            <a:lstStyle/>
            <a:p>
              <a:pPr marL="0" marR="0" indent="0" algn="l" defTabSz="825500" rtl="0" fontAlgn="auto" latinLnBrk="0" hangingPunct="0">
                <a:lnSpc>
                  <a:spcPct val="100000"/>
                </a:lnSpc>
                <a:spcBef>
                  <a:spcPts val="59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de-DE" sz="3600" b="0" i="0" u="none" strike="noStrike" cap="none" spc="0" normalizeH="0" baseline="0" dirty="0" smtClean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Helvetica Neue"/>
                  <a:ea typeface="Helvetica Neue"/>
                  <a:cs typeface="Helvetica Neue"/>
                  <a:sym typeface="Helvetica Neue"/>
                </a:rPr>
                <a:t>Test Set</a:t>
              </a:r>
              <a:endParaRPr kumimoji="0" lang="de-DE" sz="36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7" name="L-Shape 6"/>
            <p:cNvSpPr/>
            <p:nvPr/>
          </p:nvSpPr>
          <p:spPr>
            <a:xfrm>
              <a:off x="2464722" y="4677072"/>
              <a:ext cx="764772" cy="1105593"/>
            </a:xfrm>
            <a:prstGeom prst="corner">
              <a:avLst/>
            </a:prstGeom>
            <a:noFill/>
            <a:ln w="12700" cap="flat">
              <a:solidFill>
                <a:schemeClr val="tx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8" name="Isosceles Triangle 7"/>
            <p:cNvSpPr/>
            <p:nvPr/>
          </p:nvSpPr>
          <p:spPr>
            <a:xfrm>
              <a:off x="2200331" y="5912425"/>
              <a:ext cx="1255222" cy="1213658"/>
            </a:xfrm>
            <a:prstGeom prst="triangle">
              <a:avLst/>
            </a:prstGeom>
            <a:noFill/>
            <a:ln w="12700" cap="flat">
              <a:solidFill>
                <a:schemeClr val="tx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9" name="Diamond 8"/>
            <p:cNvSpPr/>
            <p:nvPr/>
          </p:nvSpPr>
          <p:spPr>
            <a:xfrm>
              <a:off x="2319250" y="7274799"/>
              <a:ext cx="1055716" cy="1371600"/>
            </a:xfrm>
            <a:prstGeom prst="diamond">
              <a:avLst/>
            </a:prstGeom>
            <a:noFill/>
            <a:ln w="12700" cap="flat">
              <a:solidFill>
                <a:schemeClr val="tx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10" name="Diagonal Stripe 9"/>
            <p:cNvSpPr/>
            <p:nvPr/>
          </p:nvSpPr>
          <p:spPr>
            <a:xfrm>
              <a:off x="2111433" y="8927869"/>
              <a:ext cx="1554480" cy="573578"/>
            </a:xfrm>
            <a:prstGeom prst="diagStripe">
              <a:avLst/>
            </a:prstGeom>
            <a:noFill/>
            <a:ln w="12700" cap="flat">
              <a:solidFill>
                <a:schemeClr val="tx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6952211" y="4376649"/>
              <a:ext cx="3167149" cy="5648499"/>
            </a:xfrm>
            <a:prstGeom prst="ellipse">
              <a:avLst/>
            </a:prstGeom>
            <a:noFill/>
            <a:ln w="12700" cap="flat">
              <a:solidFill>
                <a:schemeClr val="tx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023956" y="2967555"/>
              <a:ext cx="5264727" cy="14132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spAutoFit/>
            </a:bodyPr>
            <a:lstStyle/>
            <a:p>
              <a:pPr marL="0" marR="0" indent="0" algn="l" defTabSz="825500" rtl="0" fontAlgn="auto" latinLnBrk="0" hangingPunct="0">
                <a:lnSpc>
                  <a:spcPct val="100000"/>
                </a:lnSpc>
                <a:spcBef>
                  <a:spcPts val="59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de-DE" sz="3600" dirty="0" smtClean="0"/>
                <a:t>Representative objects</a:t>
              </a:r>
              <a:endParaRPr kumimoji="0" lang="de-DE" sz="36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3" name="Regular Pentagon 12"/>
            <p:cNvSpPr/>
            <p:nvPr/>
          </p:nvSpPr>
          <p:spPr>
            <a:xfrm>
              <a:off x="7908174" y="4879571"/>
              <a:ext cx="1255221" cy="1363287"/>
            </a:xfrm>
            <a:prstGeom prst="pentagon">
              <a:avLst/>
            </a:prstGeom>
            <a:noFill/>
            <a:ln w="12700" cap="flat">
              <a:solidFill>
                <a:schemeClr val="tx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15" name="Can 14"/>
            <p:cNvSpPr/>
            <p:nvPr/>
          </p:nvSpPr>
          <p:spPr>
            <a:xfrm>
              <a:off x="8254538" y="8138160"/>
              <a:ext cx="673331" cy="1446415"/>
            </a:xfrm>
            <a:prstGeom prst="can">
              <a:avLst/>
            </a:prstGeom>
            <a:noFill/>
            <a:ln w="12700" cap="flat">
              <a:solidFill>
                <a:schemeClr val="tx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16" name="Half Frame 15"/>
            <p:cNvSpPr/>
            <p:nvPr/>
          </p:nvSpPr>
          <p:spPr>
            <a:xfrm>
              <a:off x="8192192" y="6427465"/>
              <a:ext cx="798022" cy="1576424"/>
            </a:xfrm>
            <a:prstGeom prst="halfFrame">
              <a:avLst/>
            </a:prstGeom>
            <a:noFill/>
            <a:ln w="12700" cap="flat">
              <a:solidFill>
                <a:schemeClr val="tx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cxnSp>
          <p:nvCxnSpPr>
            <p:cNvPr id="19" name="Straight Arrow Connector 18"/>
            <p:cNvCxnSpPr/>
            <p:nvPr/>
          </p:nvCxnSpPr>
          <p:spPr>
            <a:xfrm>
              <a:off x="3183774" y="5062451"/>
              <a:ext cx="4447310" cy="2212348"/>
            </a:xfrm>
            <a:prstGeom prst="straightConnector1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0" name="Straight Arrow Connector 19"/>
            <p:cNvCxnSpPr/>
            <p:nvPr/>
          </p:nvCxnSpPr>
          <p:spPr>
            <a:xfrm flipV="1">
              <a:off x="3399905" y="5868784"/>
              <a:ext cx="4447310" cy="780235"/>
            </a:xfrm>
            <a:prstGeom prst="straightConnector1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2" name="Straight Arrow Connector 21"/>
            <p:cNvCxnSpPr/>
            <p:nvPr/>
          </p:nvCxnSpPr>
          <p:spPr>
            <a:xfrm flipV="1">
              <a:off x="3471948" y="6029720"/>
              <a:ext cx="4436226" cy="2272370"/>
            </a:xfrm>
            <a:prstGeom prst="straightConnector1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4" name="Straight Arrow Connector 23"/>
            <p:cNvCxnSpPr/>
            <p:nvPr/>
          </p:nvCxnSpPr>
          <p:spPr>
            <a:xfrm flipV="1">
              <a:off x="3333403" y="9214658"/>
              <a:ext cx="4591166" cy="127481"/>
            </a:xfrm>
            <a:prstGeom prst="straightConnector1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28" name="Rectangle 27"/>
          <p:cNvSpPr/>
          <p:nvPr/>
        </p:nvSpPr>
        <p:spPr>
          <a:xfrm>
            <a:off x="11635047" y="2884516"/>
            <a:ext cx="10025149" cy="8271164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12042370" y="4376650"/>
            <a:ext cx="3167149" cy="5648499"/>
          </a:xfrm>
          <a:prstGeom prst="ellipse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4705214" y="2164506"/>
            <a:ext cx="2585257" cy="15978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Model Y</a:t>
            </a:r>
            <a:endParaRPr kumimoji="0" lang="de-DE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2649199" y="2963443"/>
            <a:ext cx="2626822" cy="14132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36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Test Set</a:t>
            </a:r>
            <a:endParaRPr kumimoji="0" lang="de-DE" sz="36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2" name="L-Shape 31"/>
          <p:cNvSpPr/>
          <p:nvPr/>
        </p:nvSpPr>
        <p:spPr>
          <a:xfrm>
            <a:off x="13243558" y="4677072"/>
            <a:ext cx="764772" cy="1105593"/>
          </a:xfrm>
          <a:prstGeom prst="corner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33" name="Isosceles Triangle 32"/>
          <p:cNvSpPr/>
          <p:nvPr/>
        </p:nvSpPr>
        <p:spPr>
          <a:xfrm>
            <a:off x="12979167" y="5912425"/>
            <a:ext cx="1255222" cy="1213658"/>
          </a:xfrm>
          <a:prstGeom prst="triangle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34" name="Diamond 33"/>
          <p:cNvSpPr/>
          <p:nvPr/>
        </p:nvSpPr>
        <p:spPr>
          <a:xfrm>
            <a:off x="13098086" y="7274799"/>
            <a:ext cx="1055716" cy="1371600"/>
          </a:xfrm>
          <a:prstGeom prst="diamond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35" name="Diagonal Stripe 34"/>
          <p:cNvSpPr/>
          <p:nvPr/>
        </p:nvSpPr>
        <p:spPr>
          <a:xfrm>
            <a:off x="12890269" y="8927869"/>
            <a:ext cx="1554480" cy="573578"/>
          </a:xfrm>
          <a:prstGeom prst="diagStripe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17731047" y="4376649"/>
            <a:ext cx="3167149" cy="5648499"/>
          </a:xfrm>
          <a:prstGeom prst="ellipse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6802792" y="2967555"/>
            <a:ext cx="5264727" cy="14132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3600" dirty="0" smtClean="0"/>
              <a:t>Representative objects</a:t>
            </a:r>
            <a:endParaRPr kumimoji="0" lang="de-DE" sz="36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0" name="Half Frame 39"/>
          <p:cNvSpPr/>
          <p:nvPr/>
        </p:nvSpPr>
        <p:spPr>
          <a:xfrm>
            <a:off x="18971028" y="6427465"/>
            <a:ext cx="798022" cy="1576424"/>
          </a:xfrm>
          <a:prstGeom prst="halfFrame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13962610" y="5062451"/>
            <a:ext cx="4947459" cy="4080285"/>
          </a:xfrm>
          <a:prstGeom prst="straightConnector1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2" name="Straight Arrow Connector 41"/>
          <p:cNvCxnSpPr/>
          <p:nvPr/>
        </p:nvCxnSpPr>
        <p:spPr>
          <a:xfrm flipV="1">
            <a:off x="14178741" y="5868784"/>
            <a:ext cx="4447310" cy="780235"/>
          </a:xfrm>
          <a:prstGeom prst="straightConnector1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3" name="Straight Arrow Connector 42"/>
          <p:cNvCxnSpPr/>
          <p:nvPr/>
        </p:nvCxnSpPr>
        <p:spPr>
          <a:xfrm flipV="1">
            <a:off x="14250784" y="6029720"/>
            <a:ext cx="4436226" cy="2272370"/>
          </a:xfrm>
          <a:prstGeom prst="straightConnector1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4" name="Straight Arrow Connector 43"/>
          <p:cNvCxnSpPr/>
          <p:nvPr/>
        </p:nvCxnSpPr>
        <p:spPr>
          <a:xfrm flipV="1">
            <a:off x="14112239" y="7498993"/>
            <a:ext cx="4694036" cy="1843147"/>
          </a:xfrm>
          <a:prstGeom prst="straightConnector1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7" name="TextBox 46"/>
          <p:cNvSpPr txBox="1"/>
          <p:nvPr/>
        </p:nvSpPr>
        <p:spPr>
          <a:xfrm>
            <a:off x="1047405" y="10643365"/>
            <a:ext cx="20564532" cy="14132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r>
              <a:rPr lang="de-DE" sz="3600" dirty="0" smtClean="0"/>
              <a:t>Avg Hausdorff distance(test,repr. Objs) (Model X)&lt; Avg Hausdorff </a:t>
            </a:r>
            <a:r>
              <a:rPr lang="de-DE" sz="3600" dirty="0"/>
              <a:t>distance(test,repr. Objs) (Model </a:t>
            </a:r>
            <a:r>
              <a:rPr lang="de-DE" sz="3600" dirty="0" smtClean="0"/>
              <a:t>Y)</a:t>
            </a:r>
            <a:endParaRPr lang="de-DE" sz="3600" dirty="0"/>
          </a:p>
        </p:txBody>
      </p:sp>
      <p:sp>
        <p:nvSpPr>
          <p:cNvPr id="48" name="TextBox 47"/>
          <p:cNvSpPr txBox="1"/>
          <p:nvPr/>
        </p:nvSpPr>
        <p:spPr>
          <a:xfrm>
            <a:off x="9261762" y="11494421"/>
            <a:ext cx="5561215" cy="15978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Model X🎉🎊</a:t>
            </a:r>
            <a:endParaRPr kumimoji="0" lang="de-DE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9" name="Hexagon 48"/>
          <p:cNvSpPr/>
          <p:nvPr/>
        </p:nvSpPr>
        <p:spPr>
          <a:xfrm>
            <a:off x="18706177" y="4834834"/>
            <a:ext cx="1466041" cy="1420437"/>
          </a:xfrm>
          <a:prstGeom prst="hexagon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50" name="Pie 49"/>
          <p:cNvSpPr/>
          <p:nvPr/>
        </p:nvSpPr>
        <p:spPr>
          <a:xfrm>
            <a:off x="18910069" y="8084643"/>
            <a:ext cx="1191491" cy="1384716"/>
          </a:xfrm>
          <a:prstGeom prst="pie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135649311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lustering Algorithm -…"/>
          <p:cNvSpPr txBox="1"/>
          <p:nvPr/>
        </p:nvSpPr>
        <p:spPr>
          <a:xfrm>
            <a:off x="989149" y="3962922"/>
            <a:ext cx="6940488" cy="35722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pPr>
              <a:lnSpc>
                <a:spcPct val="10000"/>
              </a:lnSpc>
            </a:pPr>
            <a:r>
              <a:rPr dirty="0"/>
              <a:t>Clustering Algorithm - </a:t>
            </a:r>
          </a:p>
          <a:p>
            <a:pPr marL="1270000" lvl="1" indent="-635000">
              <a:lnSpc>
                <a:spcPct val="10000"/>
              </a:lnSpc>
              <a:buSzPct val="125000"/>
              <a:buChar char="•"/>
            </a:pPr>
            <a:r>
              <a:rPr lang="de-DE" dirty="0" smtClean="0"/>
              <a:t>Agglomerative</a:t>
            </a:r>
            <a:endParaRPr dirty="0"/>
          </a:p>
          <a:p>
            <a:pPr marL="1270000" lvl="1" indent="-635000">
              <a:lnSpc>
                <a:spcPct val="10000"/>
              </a:lnSpc>
              <a:buSzPct val="125000"/>
              <a:buChar char="•"/>
            </a:pPr>
            <a:r>
              <a:rPr dirty="0" smtClean="0"/>
              <a:t>HD</a:t>
            </a:r>
            <a:r>
              <a:rPr lang="de-DE" dirty="0" smtClean="0"/>
              <a:t>B</a:t>
            </a:r>
            <a:r>
              <a:rPr dirty="0" smtClean="0"/>
              <a:t>SCAN</a:t>
            </a:r>
            <a:endParaRPr dirty="0"/>
          </a:p>
          <a:p>
            <a:pPr marL="1270000" lvl="1" indent="-635000">
              <a:lnSpc>
                <a:spcPct val="10000"/>
              </a:lnSpc>
              <a:buSzPct val="125000"/>
              <a:buChar char="•"/>
            </a:pPr>
            <a:r>
              <a:rPr lang="de-DE" dirty="0" smtClean="0"/>
              <a:t>Spectral</a:t>
            </a:r>
            <a:endParaRPr dirty="0"/>
          </a:p>
          <a:p>
            <a:pPr marL="1270000" lvl="1" indent="-635000">
              <a:lnSpc>
                <a:spcPct val="10000"/>
              </a:lnSpc>
              <a:buSzPct val="125000"/>
              <a:buChar char="•"/>
            </a:pPr>
            <a:r>
              <a:rPr lang="de-DE" dirty="0" smtClean="0"/>
              <a:t>Mini-Batch </a:t>
            </a:r>
            <a:r>
              <a:rPr dirty="0" err="1" smtClean="0"/>
              <a:t>KMeans</a:t>
            </a:r>
            <a:endParaRPr dirty="0"/>
          </a:p>
        </p:txBody>
      </p:sp>
      <p:sp>
        <p:nvSpPr>
          <p:cNvPr id="214" name="New ide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de-DE" dirty="0" smtClean="0"/>
              <a:t>Quick Recap</a:t>
            </a:r>
            <a:endParaRPr dirty="0"/>
          </a:p>
        </p:txBody>
      </p:sp>
      <p:pic>
        <p:nvPicPr>
          <p:cNvPr id="215" name="IMG_1041.jpeg" descr="IMG_1041.jpe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884514" y="4376392"/>
            <a:ext cx="13313953" cy="7846984"/>
          </a:xfrm>
          <a:prstGeom prst="rect">
            <a:avLst/>
          </a:prstGeom>
          <a:ln w="12700">
            <a:miter lim="400000"/>
          </a:ln>
        </p:spPr>
      </p:pic>
      <p:sp>
        <p:nvSpPr>
          <p:cNvPr id="216" name="Clustering Algorithm -…"/>
          <p:cNvSpPr txBox="1"/>
          <p:nvPr/>
        </p:nvSpPr>
        <p:spPr>
          <a:xfrm>
            <a:off x="989149" y="3999855"/>
            <a:ext cx="6489813" cy="3498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pPr>
              <a:lnSpc>
                <a:spcPct val="10000"/>
              </a:lnSpc>
            </a:pPr>
            <a:r>
              <a:rPr dirty="0"/>
              <a:t>Clustering Algorithm - </a:t>
            </a:r>
          </a:p>
          <a:p>
            <a:pPr marL="1270000" lvl="1" indent="-635000">
              <a:lnSpc>
                <a:spcPct val="10000"/>
              </a:lnSpc>
              <a:buSzPct val="125000"/>
              <a:buChar char="•"/>
            </a:pPr>
            <a:r>
              <a:rPr dirty="0"/>
              <a:t>DBSCAN</a:t>
            </a:r>
          </a:p>
          <a:p>
            <a:pPr marL="1270000" lvl="1" indent="-635000">
              <a:lnSpc>
                <a:spcPct val="10000"/>
              </a:lnSpc>
              <a:buSzPct val="125000"/>
              <a:buChar char="•"/>
            </a:pPr>
            <a:r>
              <a:rPr dirty="0"/>
              <a:t>HDSCAN</a:t>
            </a:r>
          </a:p>
          <a:p>
            <a:pPr marL="1270000" lvl="1" indent="-635000">
              <a:lnSpc>
                <a:spcPct val="10000"/>
              </a:lnSpc>
              <a:buSzPct val="125000"/>
              <a:buChar char="•"/>
            </a:pPr>
            <a:r>
              <a:rPr dirty="0"/>
              <a:t>K-</a:t>
            </a:r>
            <a:r>
              <a:rPr dirty="0" err="1"/>
              <a:t>Medoids</a:t>
            </a:r>
            <a:endParaRPr dirty="0"/>
          </a:p>
          <a:p>
            <a:pPr marL="1270000" lvl="1" indent="-635000">
              <a:lnSpc>
                <a:spcPct val="10000"/>
              </a:lnSpc>
              <a:buSzPct val="125000"/>
              <a:buChar char="•"/>
            </a:pPr>
            <a:r>
              <a:rPr dirty="0" err="1" smtClean="0"/>
              <a:t>KMeans</a:t>
            </a:r>
            <a:endParaRPr dirty="0"/>
          </a:p>
        </p:txBody>
      </p:sp>
      <p:sp>
        <p:nvSpPr>
          <p:cNvPr id="217" name="Slide Number"/>
          <p:cNvSpPr txBox="1">
            <a:spLocks noGrp="1"/>
          </p:cNvSpPr>
          <p:nvPr>
            <p:ph type="sldNum" sz="quarter" idx="4294967295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19</a:t>
            </a:fld>
            <a:endParaRPr/>
          </a:p>
        </p:txBody>
      </p:sp>
      <p:grpSp>
        <p:nvGrpSpPr>
          <p:cNvPr id="5" name="Group 4"/>
          <p:cNvGrpSpPr/>
          <p:nvPr/>
        </p:nvGrpSpPr>
        <p:grpSpPr>
          <a:xfrm>
            <a:off x="11235661" y="3182610"/>
            <a:ext cx="10591246" cy="817245"/>
            <a:chOff x="12716989" y="7498249"/>
            <a:chExt cx="10591246" cy="817245"/>
          </a:xfrm>
        </p:grpSpPr>
        <p:sp>
          <p:nvSpPr>
            <p:cNvPr id="4" name="Rounded Rectangle 3"/>
            <p:cNvSpPr/>
            <p:nvPr/>
          </p:nvSpPr>
          <p:spPr>
            <a:xfrm>
              <a:off x="12716989" y="7498249"/>
              <a:ext cx="5060023" cy="817245"/>
            </a:xfrm>
            <a:prstGeom prst="round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de-DE" b="0" i="0" u="none" strike="noStrike" cap="none" spc="0" normalizeH="0" baseline="0" dirty="0" smtClean="0">
                  <a:ln>
                    <a:noFill/>
                  </a:ln>
                  <a:solidFill>
                    <a:srgbClr val="FFFFFF"/>
                  </a:solidFill>
                  <a:effectLst/>
                  <a:uFillTx/>
                  <a:latin typeface="+mn-lt"/>
                  <a:ea typeface="+mn-ea"/>
                  <a:cs typeface="+mn-cs"/>
                  <a:sym typeface="Helvetica Neue Medium"/>
                </a:rPr>
                <a:t>PointNet</a:t>
              </a:r>
              <a:endParaRPr kumimoji="0" lang="de-DE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8248212" y="7498249"/>
              <a:ext cx="5060023" cy="817245"/>
            </a:xfrm>
            <a:prstGeom prst="round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de-DE" b="0" i="0" u="none" strike="noStrike" cap="none" spc="0" normalizeH="0" baseline="0" dirty="0" smtClean="0">
                  <a:ln>
                    <a:noFill/>
                  </a:ln>
                  <a:solidFill>
                    <a:srgbClr val="FFFFFF"/>
                  </a:solidFill>
                  <a:effectLst/>
                  <a:uFillTx/>
                  <a:latin typeface="+mn-lt"/>
                  <a:ea typeface="+mn-ea"/>
                  <a:cs typeface="+mn-cs"/>
                  <a:sym typeface="Helvetica Neue Medium"/>
                </a:rPr>
                <a:t>DGCNN</a:t>
              </a:r>
              <a:endParaRPr kumimoji="0" lang="de-DE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1689100" y="9046490"/>
            <a:ext cx="7392931" cy="233653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 anchorCtr="0">
            <a:spAutoFit/>
          </a:bodyPr>
          <a:lstStyle/>
          <a:p>
            <a:pPr marL="685800" marR="0" indent="-685800" algn="l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DBCV: Density based Clustering Evaluation</a:t>
            </a:r>
            <a:endParaRPr kumimoji="0" lang="de-DE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89149" y="8389966"/>
            <a:ext cx="8092882" cy="9330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>
              <a:lnSpc>
                <a:spcPct val="10000"/>
              </a:lnSpc>
            </a:pPr>
            <a:r>
              <a:rPr lang="fr-FR" dirty="0" smtClean="0"/>
              <a:t>Evaluation </a:t>
            </a:r>
            <a:r>
              <a:rPr lang="fr-FR" dirty="0" err="1" smtClean="0"/>
              <a:t>metrics</a:t>
            </a:r>
            <a:r>
              <a:rPr lang="fr-FR" dirty="0" smtClean="0"/>
              <a:t> - </a:t>
            </a:r>
            <a:endParaRPr lang="fr-FR" dirty="0"/>
          </a:p>
        </p:txBody>
      </p:sp>
      <p:sp>
        <p:nvSpPr>
          <p:cNvPr id="2" name="TextBox 1"/>
          <p:cNvSpPr txBox="1"/>
          <p:nvPr/>
        </p:nvSpPr>
        <p:spPr>
          <a:xfrm>
            <a:off x="17777012" y="12375075"/>
            <a:ext cx="6400800" cy="116698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0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DGCNN:Dynamic Graph Convolutional Neural Network</a:t>
            </a:r>
            <a:endParaRPr kumimoji="0" lang="de-DE" sz="20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cxnSp>
        <p:nvCxnSpPr>
          <p:cNvPr id="6" name="Straight Arrow Connector 5"/>
          <p:cNvCxnSpPr/>
          <p:nvPr/>
        </p:nvCxnSpPr>
        <p:spPr>
          <a:xfrm flipH="1" flipV="1">
            <a:off x="15675429" y="4158343"/>
            <a:ext cx="326571" cy="457200"/>
          </a:xfrm>
          <a:prstGeom prst="straightConnector1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5" name="Straight Arrow Connector 14"/>
          <p:cNvCxnSpPr/>
          <p:nvPr/>
        </p:nvCxnSpPr>
        <p:spPr>
          <a:xfrm flipV="1">
            <a:off x="17541490" y="4123867"/>
            <a:ext cx="328450" cy="416998"/>
          </a:xfrm>
          <a:prstGeom prst="straightConnector1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6" name="Rectangle 15"/>
          <p:cNvSpPr/>
          <p:nvPr/>
        </p:nvSpPr>
        <p:spPr>
          <a:xfrm>
            <a:off x="1689100" y="5960649"/>
            <a:ext cx="7032171" cy="738664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685800" marR="0" indent="-685800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de-DE" b="0" i="0" u="none" strike="noStrike" cap="none" spc="0" normalizeH="0" baseline="0" dirty="0" smtClean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rPr>
              <a:t>Multi-level</a:t>
            </a:r>
            <a:r>
              <a:rPr kumimoji="0" lang="de-DE" b="0" i="0" u="none" strike="noStrike" cap="none" spc="0" normalizeH="0" dirty="0" smtClean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rPr>
              <a:t> HDBSCAN</a:t>
            </a:r>
            <a:endParaRPr kumimoji="0" lang="de-DE" b="0" i="0" u="none" strike="noStrike" cap="none" spc="0" normalizeH="0" baseline="0" dirty="0">
              <a:ln>
                <a:noFill/>
              </a:ln>
              <a:solidFill>
                <a:schemeClr val="accent3">
                  <a:lumMod val="75000"/>
                </a:schemeClr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292089037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6" grpId="0" animBg="1"/>
      <p:bldP spid="1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Oval 85"/>
          <p:cNvSpPr/>
          <p:nvPr/>
        </p:nvSpPr>
        <p:spPr>
          <a:xfrm>
            <a:off x="3716361" y="7600938"/>
            <a:ext cx="1256325" cy="156461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Multi-level HDBSCAN</a:t>
            </a:r>
            <a:endParaRPr lang="de-DE" dirty="0"/>
          </a:p>
        </p:txBody>
      </p:sp>
      <p:grpSp>
        <p:nvGrpSpPr>
          <p:cNvPr id="105" name="Group 104"/>
          <p:cNvGrpSpPr/>
          <p:nvPr/>
        </p:nvGrpSpPr>
        <p:grpSpPr>
          <a:xfrm>
            <a:off x="1424544" y="10125524"/>
            <a:ext cx="21270356" cy="2046520"/>
            <a:chOff x="1424544" y="10125524"/>
            <a:chExt cx="21270356" cy="2046520"/>
          </a:xfrm>
        </p:grpSpPr>
        <p:sp>
          <p:nvSpPr>
            <p:cNvPr id="7" name="Oval 6"/>
            <p:cNvSpPr/>
            <p:nvPr/>
          </p:nvSpPr>
          <p:spPr>
            <a:xfrm>
              <a:off x="1424544" y="10125524"/>
              <a:ext cx="2378529" cy="1915886"/>
            </a:xfrm>
            <a:prstGeom prst="ellipse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20316371" y="10174513"/>
              <a:ext cx="2378529" cy="1915886"/>
            </a:xfrm>
            <a:prstGeom prst="ellipse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4153855" y="10125524"/>
              <a:ext cx="2378529" cy="1915886"/>
            </a:xfrm>
            <a:prstGeom prst="ellipse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6740745" y="10165440"/>
              <a:ext cx="2378529" cy="1915886"/>
            </a:xfrm>
            <a:prstGeom prst="ellipse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9399127" y="10165440"/>
              <a:ext cx="2378529" cy="1915886"/>
            </a:xfrm>
            <a:prstGeom prst="ellipse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12128438" y="10174513"/>
              <a:ext cx="2378529" cy="1915886"/>
            </a:xfrm>
            <a:prstGeom prst="ellipse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14857749" y="10174513"/>
              <a:ext cx="2378529" cy="1915886"/>
            </a:xfrm>
            <a:prstGeom prst="ellipse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17614359" y="10256158"/>
              <a:ext cx="2378529" cy="1915886"/>
            </a:xfrm>
            <a:prstGeom prst="ellipse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18" name="5-Point Star 17"/>
            <p:cNvSpPr/>
            <p:nvPr/>
          </p:nvSpPr>
          <p:spPr>
            <a:xfrm>
              <a:off x="2024743" y="10646229"/>
              <a:ext cx="522514" cy="437238"/>
            </a:xfrm>
            <a:prstGeom prst="star5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19" name="5-Point Star 18"/>
            <p:cNvSpPr/>
            <p:nvPr/>
          </p:nvSpPr>
          <p:spPr>
            <a:xfrm>
              <a:off x="2852057" y="10904764"/>
              <a:ext cx="522514" cy="437238"/>
            </a:xfrm>
            <a:prstGeom prst="star5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20" name="5-Point Star 19"/>
            <p:cNvSpPr/>
            <p:nvPr/>
          </p:nvSpPr>
          <p:spPr>
            <a:xfrm>
              <a:off x="2590800" y="10427610"/>
              <a:ext cx="522514" cy="437238"/>
            </a:xfrm>
            <a:prstGeom prst="star5">
              <a:avLst/>
            </a:prstGeom>
            <a:solidFill>
              <a:schemeClr val="accent3">
                <a:lumMod val="7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21" name="5-Point Star 20"/>
            <p:cNvSpPr/>
            <p:nvPr/>
          </p:nvSpPr>
          <p:spPr>
            <a:xfrm>
              <a:off x="2049690" y="11166022"/>
              <a:ext cx="522514" cy="437238"/>
            </a:xfrm>
            <a:prstGeom prst="star5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22" name="5-Point Star 21"/>
            <p:cNvSpPr/>
            <p:nvPr/>
          </p:nvSpPr>
          <p:spPr>
            <a:xfrm>
              <a:off x="2534502" y="11473087"/>
              <a:ext cx="522514" cy="437238"/>
            </a:xfrm>
            <a:prstGeom prst="star5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23" name="Moon 22"/>
            <p:cNvSpPr/>
            <p:nvPr/>
          </p:nvSpPr>
          <p:spPr>
            <a:xfrm>
              <a:off x="4704773" y="10427610"/>
              <a:ext cx="385235" cy="437238"/>
            </a:xfrm>
            <a:prstGeom prst="moon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24" name="Moon 23"/>
            <p:cNvSpPr/>
            <p:nvPr/>
          </p:nvSpPr>
          <p:spPr>
            <a:xfrm>
              <a:off x="5161946" y="10386339"/>
              <a:ext cx="385235" cy="437238"/>
            </a:xfrm>
            <a:prstGeom prst="moon">
              <a:avLst/>
            </a:prstGeom>
            <a:solidFill>
              <a:schemeClr val="accent3">
                <a:lumMod val="7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25" name="Moon 24"/>
            <p:cNvSpPr/>
            <p:nvPr/>
          </p:nvSpPr>
          <p:spPr>
            <a:xfrm>
              <a:off x="5031480" y="11219543"/>
              <a:ext cx="385235" cy="437238"/>
            </a:xfrm>
            <a:prstGeom prst="moon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26" name="Moon 25"/>
            <p:cNvSpPr/>
            <p:nvPr/>
          </p:nvSpPr>
          <p:spPr>
            <a:xfrm>
              <a:off x="4548138" y="11000924"/>
              <a:ext cx="385235" cy="437238"/>
            </a:xfrm>
            <a:prstGeom prst="moon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27" name="Moon 26"/>
            <p:cNvSpPr/>
            <p:nvPr/>
          </p:nvSpPr>
          <p:spPr>
            <a:xfrm>
              <a:off x="5488653" y="11094363"/>
              <a:ext cx="385235" cy="437238"/>
            </a:xfrm>
            <a:prstGeom prst="moon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28" name="Moon 27"/>
            <p:cNvSpPr/>
            <p:nvPr/>
          </p:nvSpPr>
          <p:spPr>
            <a:xfrm>
              <a:off x="5619119" y="10580010"/>
              <a:ext cx="385235" cy="437238"/>
            </a:xfrm>
            <a:prstGeom prst="moon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29" name="Lightning Bolt 28"/>
            <p:cNvSpPr/>
            <p:nvPr/>
          </p:nvSpPr>
          <p:spPr>
            <a:xfrm>
              <a:off x="7526985" y="10383617"/>
              <a:ext cx="532528" cy="486227"/>
            </a:xfrm>
            <a:prstGeom prst="lightningBolt">
              <a:avLst/>
            </a:prstGeom>
            <a:solidFill>
              <a:schemeClr val="accent3">
                <a:lumMod val="7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30" name="Lightning Bolt 29"/>
            <p:cNvSpPr/>
            <p:nvPr/>
          </p:nvSpPr>
          <p:spPr>
            <a:xfrm>
              <a:off x="8139040" y="10733316"/>
              <a:ext cx="532528" cy="486227"/>
            </a:xfrm>
            <a:prstGeom prst="lightningBolt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31" name="Lightning Bolt 30"/>
            <p:cNvSpPr/>
            <p:nvPr/>
          </p:nvSpPr>
          <p:spPr>
            <a:xfrm>
              <a:off x="7788889" y="11193699"/>
              <a:ext cx="532528" cy="486227"/>
            </a:xfrm>
            <a:prstGeom prst="lightningBolt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32" name="Lightning Bolt 31"/>
            <p:cNvSpPr/>
            <p:nvPr/>
          </p:nvSpPr>
          <p:spPr>
            <a:xfrm>
              <a:off x="7223057" y="11193700"/>
              <a:ext cx="532528" cy="486227"/>
            </a:xfrm>
            <a:prstGeom prst="lightningBolt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33" name="Lightning Bolt 32"/>
            <p:cNvSpPr/>
            <p:nvPr/>
          </p:nvSpPr>
          <p:spPr>
            <a:xfrm>
              <a:off x="7090896" y="10580010"/>
              <a:ext cx="532528" cy="486227"/>
            </a:xfrm>
            <a:prstGeom prst="lightningBolt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34" name="Cloud 33"/>
            <p:cNvSpPr/>
            <p:nvPr/>
          </p:nvSpPr>
          <p:spPr>
            <a:xfrm>
              <a:off x="9985018" y="10522857"/>
              <a:ext cx="708239" cy="494391"/>
            </a:xfrm>
            <a:prstGeom prst="cloud">
              <a:avLst/>
            </a:prstGeom>
            <a:solidFill>
              <a:schemeClr val="accent3">
                <a:lumMod val="7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36" name="Cloud 35"/>
            <p:cNvSpPr/>
            <p:nvPr/>
          </p:nvSpPr>
          <p:spPr>
            <a:xfrm>
              <a:off x="10400947" y="11110230"/>
              <a:ext cx="708239" cy="494391"/>
            </a:xfrm>
            <a:prstGeom prst="cloud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37" name="Sun 36"/>
            <p:cNvSpPr/>
            <p:nvPr/>
          </p:nvSpPr>
          <p:spPr>
            <a:xfrm>
              <a:off x="12590774" y="10733316"/>
              <a:ext cx="833603" cy="486227"/>
            </a:xfrm>
            <a:prstGeom prst="sun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38" name="Sun 37"/>
            <p:cNvSpPr/>
            <p:nvPr/>
          </p:nvSpPr>
          <p:spPr>
            <a:xfrm>
              <a:off x="13182967" y="10314212"/>
              <a:ext cx="833603" cy="486227"/>
            </a:xfrm>
            <a:prstGeom prst="sun">
              <a:avLst/>
            </a:prstGeom>
            <a:solidFill>
              <a:schemeClr val="accent3">
                <a:lumMod val="7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39" name="Sun 38"/>
            <p:cNvSpPr/>
            <p:nvPr/>
          </p:nvSpPr>
          <p:spPr>
            <a:xfrm>
              <a:off x="13468655" y="10905671"/>
              <a:ext cx="833603" cy="486227"/>
            </a:xfrm>
            <a:prstGeom prst="sun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40" name="Sun 39"/>
            <p:cNvSpPr/>
            <p:nvPr/>
          </p:nvSpPr>
          <p:spPr>
            <a:xfrm>
              <a:off x="12856615" y="11322054"/>
              <a:ext cx="833603" cy="486227"/>
            </a:xfrm>
            <a:prstGeom prst="sun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41" name="&quot;No&quot; Symbol 40"/>
            <p:cNvSpPr/>
            <p:nvPr/>
          </p:nvSpPr>
          <p:spPr>
            <a:xfrm>
              <a:off x="15250885" y="10646229"/>
              <a:ext cx="796128" cy="330200"/>
            </a:xfrm>
            <a:prstGeom prst="noSmoking">
              <a:avLst/>
            </a:prstGeom>
            <a:solidFill>
              <a:schemeClr val="accent2">
                <a:lumMod val="7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43" name="&quot;No&quot; Symbol 42"/>
            <p:cNvSpPr/>
            <p:nvPr/>
          </p:nvSpPr>
          <p:spPr>
            <a:xfrm>
              <a:off x="15286595" y="11166022"/>
              <a:ext cx="796128" cy="330200"/>
            </a:xfrm>
            <a:prstGeom prst="noSmoking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44" name="&quot;No&quot; Symbol 43"/>
            <p:cNvSpPr/>
            <p:nvPr/>
          </p:nvSpPr>
          <p:spPr>
            <a:xfrm>
              <a:off x="16169784" y="11319333"/>
              <a:ext cx="796128" cy="330200"/>
            </a:xfrm>
            <a:prstGeom prst="noSmoking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45" name="Block Arc 44"/>
            <p:cNvSpPr/>
            <p:nvPr/>
          </p:nvSpPr>
          <p:spPr>
            <a:xfrm>
              <a:off x="18546073" y="10604958"/>
              <a:ext cx="379467" cy="625927"/>
            </a:xfrm>
            <a:prstGeom prst="blockArc">
              <a:avLst/>
            </a:prstGeom>
            <a:solidFill>
              <a:schemeClr val="accent3">
                <a:lumMod val="7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46" name="Block Arc 45"/>
            <p:cNvSpPr/>
            <p:nvPr/>
          </p:nvSpPr>
          <p:spPr>
            <a:xfrm>
              <a:off x="17968545" y="10588174"/>
              <a:ext cx="379467" cy="625927"/>
            </a:xfrm>
            <a:prstGeom prst="blockArc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47" name="Block Arc 46"/>
            <p:cNvSpPr/>
            <p:nvPr/>
          </p:nvSpPr>
          <p:spPr>
            <a:xfrm flipH="1">
              <a:off x="18977764" y="11193699"/>
              <a:ext cx="366088" cy="514353"/>
            </a:xfrm>
            <a:prstGeom prst="blockArc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48" name="Block Arc 47"/>
            <p:cNvSpPr/>
            <p:nvPr/>
          </p:nvSpPr>
          <p:spPr>
            <a:xfrm>
              <a:off x="17942337" y="11200511"/>
              <a:ext cx="379467" cy="625927"/>
            </a:xfrm>
            <a:prstGeom prst="blockArc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49" name="Block Arc 48"/>
            <p:cNvSpPr/>
            <p:nvPr/>
          </p:nvSpPr>
          <p:spPr>
            <a:xfrm>
              <a:off x="19127107" y="10581369"/>
              <a:ext cx="379467" cy="625927"/>
            </a:xfrm>
            <a:prstGeom prst="blockArc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51" name="Quad Arrow Callout 50"/>
            <p:cNvSpPr/>
            <p:nvPr/>
          </p:nvSpPr>
          <p:spPr>
            <a:xfrm>
              <a:off x="20944114" y="10557325"/>
              <a:ext cx="561521" cy="636374"/>
            </a:xfrm>
            <a:prstGeom prst="quadArrowCallout">
              <a:avLst/>
            </a:prstGeom>
            <a:solidFill>
              <a:schemeClr val="accent3">
                <a:lumMod val="7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52" name="Quad Arrow Callout 51"/>
            <p:cNvSpPr/>
            <p:nvPr/>
          </p:nvSpPr>
          <p:spPr>
            <a:xfrm>
              <a:off x="21660492" y="10966886"/>
              <a:ext cx="561521" cy="636374"/>
            </a:xfrm>
            <a:prstGeom prst="quadArrowCallout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83" name="&quot;No&quot; Symbol 82"/>
            <p:cNvSpPr/>
            <p:nvPr/>
          </p:nvSpPr>
          <p:spPr>
            <a:xfrm>
              <a:off x="16209801" y="10883901"/>
              <a:ext cx="796128" cy="330200"/>
            </a:xfrm>
            <a:prstGeom prst="noSmoking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102" name="Block Arc 101"/>
            <p:cNvSpPr/>
            <p:nvPr/>
          </p:nvSpPr>
          <p:spPr>
            <a:xfrm>
              <a:off x="18546073" y="11460860"/>
              <a:ext cx="379467" cy="625927"/>
            </a:xfrm>
            <a:prstGeom prst="blockArc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4358463" y="4254726"/>
            <a:ext cx="14881640" cy="3775880"/>
            <a:chOff x="4358463" y="4254726"/>
            <a:chExt cx="14881640" cy="3775880"/>
          </a:xfrm>
        </p:grpSpPr>
        <p:sp>
          <p:nvSpPr>
            <p:cNvPr id="4" name="Oval 3"/>
            <p:cNvSpPr/>
            <p:nvPr/>
          </p:nvSpPr>
          <p:spPr>
            <a:xfrm>
              <a:off x="7873148" y="4254726"/>
              <a:ext cx="4724400" cy="1915886"/>
            </a:xfrm>
            <a:prstGeom prst="ellipse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88" name="Oval 87"/>
            <p:cNvSpPr/>
            <p:nvPr/>
          </p:nvSpPr>
          <p:spPr>
            <a:xfrm>
              <a:off x="13117891" y="4296851"/>
              <a:ext cx="4724400" cy="1915886"/>
            </a:xfrm>
            <a:prstGeom prst="ellipse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cxnSp>
          <p:nvCxnSpPr>
            <p:cNvPr id="90" name="Straight Arrow Connector 89"/>
            <p:cNvCxnSpPr/>
            <p:nvPr/>
          </p:nvCxnSpPr>
          <p:spPr>
            <a:xfrm flipV="1">
              <a:off x="4358463" y="5955257"/>
              <a:ext cx="3780577" cy="2075349"/>
            </a:xfrm>
            <a:prstGeom prst="straightConnector1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92" name="Straight Arrow Connector 91"/>
            <p:cNvCxnSpPr/>
            <p:nvPr/>
          </p:nvCxnSpPr>
          <p:spPr>
            <a:xfrm flipV="1">
              <a:off x="7711987" y="6341805"/>
              <a:ext cx="1154467" cy="1513975"/>
            </a:xfrm>
            <a:prstGeom prst="straightConnector1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95" name="Straight Arrow Connector 94"/>
            <p:cNvCxnSpPr/>
            <p:nvPr/>
          </p:nvCxnSpPr>
          <p:spPr>
            <a:xfrm flipV="1">
              <a:off x="12891421" y="6350921"/>
              <a:ext cx="1966328" cy="1633074"/>
            </a:xfrm>
            <a:prstGeom prst="straightConnector1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97" name="Straight Arrow Connector 96"/>
            <p:cNvCxnSpPr/>
            <p:nvPr/>
          </p:nvCxnSpPr>
          <p:spPr>
            <a:xfrm flipH="1" flipV="1">
              <a:off x="17615821" y="6014720"/>
              <a:ext cx="1624282" cy="1736307"/>
            </a:xfrm>
            <a:prstGeom prst="straightConnector1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100" name="5-Point Star 99"/>
            <p:cNvSpPr/>
            <p:nvPr/>
          </p:nvSpPr>
          <p:spPr>
            <a:xfrm>
              <a:off x="9399127" y="4750487"/>
              <a:ext cx="522514" cy="437238"/>
            </a:xfrm>
            <a:prstGeom prst="star5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101" name="Lightning Bolt 100"/>
            <p:cNvSpPr/>
            <p:nvPr/>
          </p:nvSpPr>
          <p:spPr>
            <a:xfrm>
              <a:off x="10134683" y="4518930"/>
              <a:ext cx="532528" cy="486227"/>
            </a:xfrm>
            <a:prstGeom prst="lightningBolt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50" name="Block Arc 49"/>
            <p:cNvSpPr/>
            <p:nvPr/>
          </p:nvSpPr>
          <p:spPr>
            <a:xfrm>
              <a:off x="14668015" y="4844156"/>
              <a:ext cx="379467" cy="625927"/>
            </a:xfrm>
            <a:prstGeom prst="blockArc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103" name="&quot;No&quot; Symbol 102"/>
            <p:cNvSpPr/>
            <p:nvPr/>
          </p:nvSpPr>
          <p:spPr>
            <a:xfrm>
              <a:off x="15646062" y="5022625"/>
              <a:ext cx="796128" cy="330200"/>
            </a:xfrm>
            <a:prstGeom prst="noSmoking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</p:grpSp>
      <p:sp>
        <p:nvSpPr>
          <p:cNvPr id="104" name="TextBox 103"/>
          <p:cNvSpPr txBox="1"/>
          <p:nvPr/>
        </p:nvSpPr>
        <p:spPr>
          <a:xfrm>
            <a:off x="263786" y="4718115"/>
            <a:ext cx="6184041" cy="233653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No new outliers from second level!</a:t>
            </a:r>
            <a:endParaRPr kumimoji="0" lang="de-DE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2852057" y="7107688"/>
            <a:ext cx="18161367" cy="3534355"/>
            <a:chOff x="2852057" y="7107688"/>
            <a:chExt cx="18161367" cy="3534355"/>
          </a:xfrm>
        </p:grpSpPr>
        <p:cxnSp>
          <p:nvCxnSpPr>
            <p:cNvPr id="67" name="Straight Arrow Connector 66"/>
            <p:cNvCxnSpPr/>
            <p:nvPr/>
          </p:nvCxnSpPr>
          <p:spPr>
            <a:xfrm flipH="1" flipV="1">
              <a:off x="15094949" y="8882625"/>
              <a:ext cx="3451124" cy="1719159"/>
            </a:xfrm>
            <a:prstGeom prst="straightConnector1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8" name="Oval 7"/>
            <p:cNvSpPr/>
            <p:nvPr/>
          </p:nvSpPr>
          <p:spPr>
            <a:xfrm>
              <a:off x="16289024" y="7107688"/>
              <a:ext cx="4724400" cy="1915886"/>
            </a:xfrm>
            <a:prstGeom prst="ellipse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89" name="Oval 88"/>
            <p:cNvSpPr/>
            <p:nvPr/>
          </p:nvSpPr>
          <p:spPr>
            <a:xfrm>
              <a:off x="11209645" y="7368716"/>
              <a:ext cx="4724400" cy="1915886"/>
            </a:xfrm>
            <a:prstGeom prst="ellipse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42" name="&quot;No&quot; Symbol 41"/>
            <p:cNvSpPr/>
            <p:nvPr/>
          </p:nvSpPr>
          <p:spPr>
            <a:xfrm>
              <a:off x="18918776" y="7922859"/>
              <a:ext cx="796128" cy="330200"/>
            </a:xfrm>
            <a:prstGeom prst="noSmoking">
              <a:avLst/>
            </a:prstGeom>
            <a:solidFill>
              <a:schemeClr val="accent2">
                <a:lumMod val="7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cxnSp>
          <p:nvCxnSpPr>
            <p:cNvPr id="54" name="Straight Arrow Connector 53"/>
            <p:cNvCxnSpPr/>
            <p:nvPr/>
          </p:nvCxnSpPr>
          <p:spPr>
            <a:xfrm flipV="1">
              <a:off x="10755066" y="8739184"/>
              <a:ext cx="5801083" cy="1818142"/>
            </a:xfrm>
            <a:prstGeom prst="straightConnector1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55" name="Straight Arrow Connector 54"/>
            <p:cNvCxnSpPr/>
            <p:nvPr/>
          </p:nvCxnSpPr>
          <p:spPr>
            <a:xfrm flipV="1">
              <a:off x="13599768" y="9014868"/>
              <a:ext cx="3699534" cy="1204098"/>
            </a:xfrm>
            <a:prstGeom prst="straightConnector1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61" name="Straight Arrow Connector 60"/>
            <p:cNvCxnSpPr/>
            <p:nvPr/>
          </p:nvCxnSpPr>
          <p:spPr>
            <a:xfrm flipV="1">
              <a:off x="15648950" y="9256482"/>
              <a:ext cx="2794102" cy="1266376"/>
            </a:xfrm>
            <a:prstGeom prst="straightConnector1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70" name="Straight Arrow Connector 69"/>
            <p:cNvCxnSpPr/>
            <p:nvPr/>
          </p:nvCxnSpPr>
          <p:spPr>
            <a:xfrm flipV="1">
              <a:off x="5352153" y="9047782"/>
              <a:ext cx="6662703" cy="1270520"/>
            </a:xfrm>
            <a:prstGeom prst="straightConnector1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72" name="Oval 71"/>
            <p:cNvSpPr/>
            <p:nvPr/>
          </p:nvSpPr>
          <p:spPr>
            <a:xfrm>
              <a:off x="6030666" y="7279597"/>
              <a:ext cx="4724400" cy="1915886"/>
            </a:xfrm>
            <a:prstGeom prst="ellipse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cxnSp>
          <p:nvCxnSpPr>
            <p:cNvPr id="75" name="Straight Arrow Connector 74"/>
            <p:cNvCxnSpPr/>
            <p:nvPr/>
          </p:nvCxnSpPr>
          <p:spPr>
            <a:xfrm flipV="1">
              <a:off x="2852057" y="9304195"/>
              <a:ext cx="4447266" cy="1033958"/>
            </a:xfrm>
            <a:prstGeom prst="straightConnector1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78" name="Lightning Bolt 77"/>
            <p:cNvSpPr/>
            <p:nvPr/>
          </p:nvSpPr>
          <p:spPr>
            <a:xfrm>
              <a:off x="4015610" y="7994426"/>
              <a:ext cx="532528" cy="486227"/>
            </a:xfrm>
            <a:prstGeom prst="lightningBolt">
              <a:avLst/>
            </a:prstGeom>
            <a:solidFill>
              <a:schemeClr val="accent5">
                <a:lumMod val="7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79" name="5-Point Star 78"/>
            <p:cNvSpPr/>
            <p:nvPr/>
          </p:nvSpPr>
          <p:spPr>
            <a:xfrm>
              <a:off x="7299323" y="7836300"/>
              <a:ext cx="522514" cy="437238"/>
            </a:xfrm>
            <a:prstGeom prst="star5">
              <a:avLst/>
            </a:prstGeom>
            <a:solidFill>
              <a:schemeClr val="accent3">
                <a:lumMod val="7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80" name="Quad Arrow Callout 79"/>
            <p:cNvSpPr/>
            <p:nvPr/>
          </p:nvSpPr>
          <p:spPr>
            <a:xfrm>
              <a:off x="8557753" y="7856390"/>
              <a:ext cx="561521" cy="636374"/>
            </a:xfrm>
            <a:prstGeom prst="quadArrowCallout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81" name="Cloud 80"/>
            <p:cNvSpPr/>
            <p:nvPr/>
          </p:nvSpPr>
          <p:spPr>
            <a:xfrm>
              <a:off x="17176341" y="7736799"/>
              <a:ext cx="708239" cy="494391"/>
            </a:xfrm>
            <a:prstGeom prst="cloud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82" name="Sun 81"/>
            <p:cNvSpPr/>
            <p:nvPr/>
          </p:nvSpPr>
          <p:spPr>
            <a:xfrm>
              <a:off x="18145540" y="7443342"/>
              <a:ext cx="833603" cy="486227"/>
            </a:xfrm>
            <a:prstGeom prst="sun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84" name="Block Arc 83"/>
            <p:cNvSpPr/>
            <p:nvPr/>
          </p:nvSpPr>
          <p:spPr>
            <a:xfrm>
              <a:off x="12628108" y="8109071"/>
              <a:ext cx="379467" cy="625927"/>
            </a:xfrm>
            <a:prstGeom prst="blockArc">
              <a:avLst/>
            </a:prstGeom>
            <a:solidFill>
              <a:schemeClr val="accent3">
                <a:lumMod val="7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sp>
          <p:nvSpPr>
            <p:cNvPr id="85" name="Moon 84"/>
            <p:cNvSpPr/>
            <p:nvPr/>
          </p:nvSpPr>
          <p:spPr>
            <a:xfrm>
              <a:off x="13419105" y="8054919"/>
              <a:ext cx="385235" cy="437238"/>
            </a:xfrm>
            <a:prstGeom prst="moon">
              <a:avLst/>
            </a:prstGeom>
            <a:solidFill>
              <a:schemeClr val="tx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cxnSp>
          <p:nvCxnSpPr>
            <p:cNvPr id="73" name="Straight Arrow Connector 72"/>
            <p:cNvCxnSpPr/>
            <p:nvPr/>
          </p:nvCxnSpPr>
          <p:spPr>
            <a:xfrm flipH="1" flipV="1">
              <a:off x="10588391" y="8858189"/>
              <a:ext cx="10419819" cy="1783854"/>
            </a:xfrm>
            <a:prstGeom prst="straightConnector1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</p:spTree>
    <p:extLst>
      <p:ext uri="{BB962C8B-B14F-4D97-AF65-F5344CB8AC3E}">
        <p14:creationId xmlns:p14="http://schemas.microsoft.com/office/powerpoint/2010/main" val="76140848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 animBg="1"/>
      <p:bldP spid="10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Experiments</a:t>
            </a:r>
            <a:endParaRPr lang="de-DE" dirty="0"/>
          </a:p>
        </p:txBody>
      </p:sp>
      <p:sp>
        <p:nvSpPr>
          <p:cNvPr id="5" name="TextBox 4"/>
          <p:cNvSpPr txBox="1"/>
          <p:nvPr/>
        </p:nvSpPr>
        <p:spPr>
          <a:xfrm>
            <a:off x="5913260" y="1842663"/>
            <a:ext cx="12397052" cy="15978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Hyperparameter: Dimension</a:t>
            </a:r>
            <a:r>
              <a:rPr kumimoji="0" lang="de-DE" sz="4800" b="0" i="0" u="none" strike="noStrike" cap="none" spc="0" normalizeH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 size</a:t>
            </a:r>
            <a:endParaRPr kumimoji="0" lang="de-DE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93474" y="11332010"/>
            <a:ext cx="12397052" cy="15978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Dimension</a:t>
            </a:r>
            <a:r>
              <a:rPr kumimoji="0" lang="de-DE" sz="4800" b="0" i="0" u="none" strike="noStrike" cap="none" spc="0" normalizeH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 512 gives the best results</a:t>
            </a:r>
            <a:endParaRPr kumimoji="0" lang="de-DE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50" y="3818271"/>
            <a:ext cx="22993314" cy="7120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42975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Experiments</a:t>
            </a:r>
            <a:endParaRPr lang="de-DE" dirty="0"/>
          </a:p>
        </p:txBody>
      </p:sp>
      <p:sp>
        <p:nvSpPr>
          <p:cNvPr id="5" name="TextBox 4"/>
          <p:cNvSpPr txBox="1"/>
          <p:nvPr/>
        </p:nvSpPr>
        <p:spPr>
          <a:xfrm>
            <a:off x="5913260" y="1842663"/>
            <a:ext cx="12397052" cy="15978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Hyperparameter: Dimension</a:t>
            </a:r>
            <a:r>
              <a:rPr kumimoji="0" lang="de-DE" sz="4800" b="0" i="0" u="none" strike="noStrike" cap="none" spc="0" normalizeH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 size</a:t>
            </a:r>
            <a:endParaRPr kumimoji="0" lang="de-DE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13260" y="10040105"/>
            <a:ext cx="12397052" cy="15978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Dimension</a:t>
            </a:r>
            <a:r>
              <a:rPr kumimoji="0" lang="de-DE" sz="4800" b="0" i="0" u="none" strike="noStrike" cap="none" spc="0" normalizeH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 512 gives the best results</a:t>
            </a:r>
            <a:endParaRPr kumimoji="0" lang="de-DE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972" y="4614378"/>
            <a:ext cx="23183628" cy="5150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686470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Experiments</a:t>
            </a:r>
            <a:endParaRPr lang="de-DE" dirty="0"/>
          </a:p>
        </p:txBody>
      </p:sp>
      <p:sp>
        <p:nvSpPr>
          <p:cNvPr id="5" name="TextBox 4"/>
          <p:cNvSpPr txBox="1"/>
          <p:nvPr/>
        </p:nvSpPr>
        <p:spPr>
          <a:xfrm>
            <a:off x="5913260" y="1842663"/>
            <a:ext cx="12397052" cy="15978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Hyperparameter: Partition</a:t>
            </a:r>
            <a:r>
              <a:rPr kumimoji="0" lang="de-DE" sz="4800" b="0" i="0" u="none" strike="noStrike" cap="none" spc="0" normalizeH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 size</a:t>
            </a:r>
            <a:endParaRPr kumimoji="0" lang="de-DE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182381" y="11332010"/>
            <a:ext cx="16019238" cy="15978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For dimension</a:t>
            </a:r>
            <a:r>
              <a:rPr kumimoji="0" lang="de-DE" sz="4800" b="0" i="0" u="none" strike="noStrike" cap="none" spc="0" normalizeH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 512: 32 already gives the decent results</a:t>
            </a:r>
            <a:endParaRPr kumimoji="0" lang="de-DE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132" y="4236134"/>
            <a:ext cx="23366950" cy="6384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4516044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Experiments</a:t>
            </a:r>
            <a:endParaRPr lang="de-DE" dirty="0"/>
          </a:p>
        </p:txBody>
      </p:sp>
      <p:sp>
        <p:nvSpPr>
          <p:cNvPr id="5" name="TextBox 4"/>
          <p:cNvSpPr txBox="1"/>
          <p:nvPr/>
        </p:nvSpPr>
        <p:spPr>
          <a:xfrm>
            <a:off x="5913260" y="1842663"/>
            <a:ext cx="12397052" cy="15978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Hyperparameter: Partition</a:t>
            </a:r>
            <a:r>
              <a:rPr kumimoji="0" lang="de-DE" sz="4800" b="0" i="0" u="none" strike="noStrike" cap="none" spc="0" normalizeH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 size</a:t>
            </a:r>
            <a:endParaRPr kumimoji="0" lang="de-DE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182381" y="11332010"/>
            <a:ext cx="16019238" cy="15978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For dimension</a:t>
            </a:r>
            <a:r>
              <a:rPr kumimoji="0" lang="de-DE" sz="4800" b="0" i="0" u="none" strike="noStrike" cap="none" spc="0" normalizeH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 512: 32 already gives the decent results</a:t>
            </a:r>
            <a:endParaRPr kumimoji="0" lang="de-DE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05" y="4479720"/>
            <a:ext cx="22286990" cy="4899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5873186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Experiments</a:t>
            </a:r>
            <a:endParaRPr lang="de-DE" dirty="0"/>
          </a:p>
        </p:txBody>
      </p:sp>
      <p:sp>
        <p:nvSpPr>
          <p:cNvPr id="5" name="TextBox 4"/>
          <p:cNvSpPr txBox="1"/>
          <p:nvPr/>
        </p:nvSpPr>
        <p:spPr>
          <a:xfrm>
            <a:off x="5913260" y="1842663"/>
            <a:ext cx="12397052" cy="15978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Hyperparameter: Batch</a:t>
            </a:r>
            <a:r>
              <a:rPr kumimoji="0" lang="de-DE" sz="4800" b="0" i="0" u="none" strike="noStrike" cap="none" spc="0" normalizeH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 size</a:t>
            </a:r>
            <a:endParaRPr kumimoji="0" lang="de-DE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102167" y="11332009"/>
            <a:ext cx="16019238" cy="15978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256 is the maximum batch size possible</a:t>
            </a:r>
            <a:endParaRPr kumimoji="0" lang="de-DE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369" y="3994038"/>
            <a:ext cx="23309262" cy="5985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555017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Experiments</a:t>
            </a:r>
            <a:endParaRPr lang="de-DE" dirty="0"/>
          </a:p>
        </p:txBody>
      </p:sp>
      <p:sp>
        <p:nvSpPr>
          <p:cNvPr id="5" name="TextBox 4"/>
          <p:cNvSpPr txBox="1"/>
          <p:nvPr/>
        </p:nvSpPr>
        <p:spPr>
          <a:xfrm>
            <a:off x="5913260" y="1842663"/>
            <a:ext cx="12397052" cy="15978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Hyperparameter: Batch</a:t>
            </a:r>
            <a:r>
              <a:rPr kumimoji="0" lang="de-DE" sz="4800" b="0" i="0" u="none" strike="noStrike" cap="none" spc="0" normalizeH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 size</a:t>
            </a:r>
            <a:endParaRPr kumimoji="0" lang="de-DE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102167" y="11332009"/>
            <a:ext cx="16019238" cy="15978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4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256 is the maximum batch size possible</a:t>
            </a:r>
            <a:endParaRPr kumimoji="0" lang="de-DE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5792" y="3668382"/>
            <a:ext cx="16271988" cy="7950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6685703" y="4496499"/>
            <a:ext cx="1828800" cy="276837"/>
          </a:xfrm>
          <a:prstGeom prst="rect">
            <a:avLst/>
          </a:prstGeom>
          <a:noFill/>
          <a:ln w="57150" cap="flat">
            <a:solidFill>
              <a:schemeClr val="accent3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6702481" y="9439012"/>
            <a:ext cx="1828800" cy="276837"/>
          </a:xfrm>
          <a:prstGeom prst="rect">
            <a:avLst/>
          </a:prstGeom>
          <a:noFill/>
          <a:ln w="57150" cap="flat">
            <a:solidFill>
              <a:schemeClr val="accent5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520298581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Experiments</a:t>
            </a:r>
            <a:endParaRPr lang="de-D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In Progress</a:t>
            </a:r>
          </a:p>
          <a:p>
            <a:pPr lvl="1"/>
            <a:r>
              <a:rPr lang="de-DE" dirty="0" smtClean="0"/>
              <a:t>Finding the representative objects</a:t>
            </a:r>
          </a:p>
          <a:p>
            <a:pPr lvl="1"/>
            <a:r>
              <a:rPr lang="de-DE" dirty="0" smtClean="0"/>
              <a:t>Experiments on DGCNN</a:t>
            </a:r>
          </a:p>
          <a:p>
            <a:pPr lvl="1"/>
            <a:r>
              <a:rPr lang="de-DE" dirty="0" smtClean="0"/>
              <a:t>Experiments on PointNet: Lower batch size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3696645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Referenc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References</a:t>
            </a:r>
          </a:p>
        </p:txBody>
      </p:sp>
      <p:sp>
        <p:nvSpPr>
          <p:cNvPr id="229" name="Zhu, Zhuotun and Wang, Xinggang and Bai, Song and Yao, Cong and Bai, Xiang : Deep learning representation using autoencoder for 3D shape retrieval…"/>
          <p:cNvSpPr txBox="1">
            <a:spLocks noGrp="1"/>
          </p:cNvSpPr>
          <p:nvPr>
            <p:ph type="body" idx="1"/>
          </p:nvPr>
        </p:nvSpPr>
        <p:spPr>
          <a:xfrm>
            <a:off x="1689100" y="-1695181"/>
            <a:ext cx="21005800" cy="14141181"/>
          </a:xfrm>
          <a:prstGeom prst="rect">
            <a:avLst/>
          </a:prstGeom>
        </p:spPr>
        <p:txBody>
          <a:bodyPr/>
          <a:lstStyle/>
          <a:p>
            <a:pPr marL="396874" indent="-396874" defTabSz="457200">
              <a:spcBef>
                <a:spcPts val="0"/>
              </a:spcBef>
              <a:defRPr sz="3000">
                <a:latin typeface="Courier"/>
                <a:ea typeface="Courier"/>
                <a:cs typeface="Courier"/>
                <a:sym typeface="Courier"/>
              </a:defRPr>
            </a:pPr>
            <a:r>
              <a:t>Zhu, Zhuotun and Wang, Xinggang and Bai, Song and Yao, Cong and Bai, Xiang : Deep learning representation using autoencoder for 3D shape retrieval</a:t>
            </a:r>
          </a:p>
          <a:p>
            <a:pPr marL="396874" indent="-396874" defTabSz="457200">
              <a:spcBef>
                <a:spcPts val="0"/>
              </a:spcBef>
              <a:defRPr sz="3000">
                <a:latin typeface="Courier"/>
                <a:ea typeface="Courier"/>
                <a:cs typeface="Courier"/>
                <a:sym typeface="Courier"/>
              </a:defRPr>
            </a:pPr>
            <a:r>
              <a:t>Bickel, Sebastian and Sauer, Christopher and Schleich, Benjamin and Wartzack, Sandro: Comparing CAD part models for geometrical similarity: A concept using machine learning algorithms</a:t>
            </a:r>
          </a:p>
          <a:p>
            <a:pPr marL="396874" indent="-396874" defTabSz="457200">
              <a:spcBef>
                <a:spcPts val="0"/>
              </a:spcBef>
              <a:defRPr sz="3000">
                <a:latin typeface="Courier"/>
                <a:ea typeface="Courier"/>
                <a:cs typeface="Courier"/>
                <a:sym typeface="Courier"/>
              </a:defRPr>
            </a:pPr>
            <a:r>
              <a:t>Ohbuchi, Ryutarou and Osada, Kunio and Furuya, Takahiko and Banno, Tomohisa: Salient local visual features for shape-based 3D model retrieval</a:t>
            </a:r>
          </a:p>
          <a:p>
            <a:pPr marL="396874" indent="-396874" algn="just" defTabSz="457200">
              <a:spcBef>
                <a:spcPts val="0"/>
              </a:spcBef>
              <a:defRPr sz="3000">
                <a:solidFill>
                  <a:srgbClr val="33333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Koch, Sebastian and Matveev, Albert and Jiang, Zhongshi and Williams, Francis and Artemov, Alexey and Burnaev, Evgeny and Alexa, Marc and Zorin, Denis and Panozzo, Daniele:ABC: A Big CAD Model Dataset For Geometric Deep Learning</a:t>
            </a:r>
          </a:p>
          <a:p>
            <a:pPr marL="396874" indent="-396874" algn="just" defTabSz="457200">
              <a:spcBef>
                <a:spcPts val="0"/>
              </a:spcBef>
              <a:defRPr sz="3000">
                <a:solidFill>
                  <a:srgbClr val="33333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u="sng">
                <a:hlinkClick r:id="rId2"/>
              </a:rPr>
              <a:t>https://www.baeldung.com/cs/deep-belief-network</a:t>
            </a:r>
          </a:p>
          <a:p>
            <a:pPr marL="396874" indent="-396874" algn="just" defTabSz="457200">
              <a:spcBef>
                <a:spcPts val="0"/>
              </a:spcBef>
              <a:defRPr sz="3000">
                <a:solidFill>
                  <a:srgbClr val="33333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Mei, Guofeng, et al. "Unsupervised learning on 3d point clouds by clustering and contrasting." arXiv preprint arXiv:2202.02543 (2022)</a:t>
            </a:r>
          </a:p>
        </p:txBody>
      </p:sp>
      <p:sp>
        <p:nvSpPr>
          <p:cNvPr id="230" name="Slide Number"/>
          <p:cNvSpPr txBox="1">
            <a:spLocks noGrp="1"/>
          </p:cNvSpPr>
          <p:nvPr>
            <p:ph type="sldNum" sz="quarter" idx="4294967295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28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825500" rtl="0" fontAlgn="auto" latinLnBrk="0" hangingPunct="0">
          <a:lnSpc>
            <a:spcPct val="100000"/>
          </a:lnSpc>
          <a:spcBef>
            <a:spcPts val="59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825500" rtl="0" fontAlgn="auto" latinLnBrk="0" hangingPunct="0">
          <a:lnSpc>
            <a:spcPct val="100000"/>
          </a:lnSpc>
          <a:spcBef>
            <a:spcPts val="59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632</Words>
  <Application>Microsoft Office PowerPoint</Application>
  <PresentationFormat>Custom</PresentationFormat>
  <Paragraphs>173</Paragraphs>
  <Slides>28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Arial</vt:lpstr>
      <vt:lpstr>Courier</vt:lpstr>
      <vt:lpstr>Helvetica Neue</vt:lpstr>
      <vt:lpstr>Helvetica Neue Light</vt:lpstr>
      <vt:lpstr>Helvetica Neue Medium</vt:lpstr>
      <vt:lpstr>White</vt:lpstr>
      <vt:lpstr>Introduction to the idea behind my Master’s thesis</vt:lpstr>
      <vt:lpstr>Bin Picking</vt:lpstr>
      <vt:lpstr>What is good data?</vt:lpstr>
      <vt:lpstr>What is good data?</vt:lpstr>
      <vt:lpstr>Comparing CAD part models for geometric similarity : A concept using machine learning algorithms</vt:lpstr>
      <vt:lpstr>Deep Learning Representation using Autoencoder for 3D Shape Retrieval</vt:lpstr>
      <vt:lpstr>Proposed Idea</vt:lpstr>
      <vt:lpstr>Problems😞</vt:lpstr>
      <vt:lpstr>Change in Plans !!!!</vt:lpstr>
      <vt:lpstr>Unsupervised Learning on 3D Point Clouds by Clustering and Contrasting</vt:lpstr>
      <vt:lpstr>New idea</vt:lpstr>
      <vt:lpstr>Current state of the work</vt:lpstr>
      <vt:lpstr>Quick Recap</vt:lpstr>
      <vt:lpstr>Previous state of the work</vt:lpstr>
      <vt:lpstr>Current state of the work</vt:lpstr>
      <vt:lpstr>Quick stats</vt:lpstr>
      <vt:lpstr>DBCV</vt:lpstr>
      <vt:lpstr>Evaluation</vt:lpstr>
      <vt:lpstr>Quick Recap</vt:lpstr>
      <vt:lpstr>Multi-level HDBSCAN</vt:lpstr>
      <vt:lpstr>Experiments</vt:lpstr>
      <vt:lpstr>Experiments</vt:lpstr>
      <vt:lpstr>Experiments</vt:lpstr>
      <vt:lpstr>Experiments</vt:lpstr>
      <vt:lpstr>Experiments</vt:lpstr>
      <vt:lpstr>Experiments</vt:lpstr>
      <vt:lpstr>Experiments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the idea behind my Master’s thesis</dc:title>
  <cp:lastModifiedBy>Banerjee, Sneha</cp:lastModifiedBy>
  <cp:revision>38</cp:revision>
  <dcterms:modified xsi:type="dcterms:W3CDTF">2024-05-08T12:48:37Z</dcterms:modified>
</cp:coreProperties>
</file>